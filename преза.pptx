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65" r:id="rId4"/>
    <p:sldId id="288" r:id="rId5"/>
    <p:sldId id="262" r:id="rId6"/>
    <p:sldId id="273" r:id="rId7"/>
    <p:sldId id="286" r:id="rId8"/>
    <p:sldId id="287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9F9F9"/>
    <a:srgbClr val="F8F8F8"/>
    <a:srgbClr val="286FE5"/>
    <a:srgbClr val="8C8C8C"/>
    <a:srgbClr val="A5A5A5"/>
    <a:srgbClr val="3E719B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3" autoAdjust="0"/>
    <p:restoredTop sz="96539" autoAdjust="0"/>
  </p:normalViewPr>
  <p:slideViewPr>
    <p:cSldViewPr snapToGrid="0" snapToObjects="1">
      <p:cViewPr varScale="1">
        <p:scale>
          <a:sx n="105" d="100"/>
          <a:sy n="105" d="100"/>
        </p:scale>
        <p:origin x="840" y="108"/>
      </p:cViewPr>
      <p:guideLst/>
    </p:cSldViewPr>
  </p:slideViewPr>
  <p:outlineViewPr>
    <p:cViewPr>
      <p:scale>
        <a:sx n="33" d="100"/>
        <a:sy n="33" d="100"/>
      </p:scale>
      <p:origin x="0" y="-51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3" d="100"/>
          <a:sy n="43" d="100"/>
        </p:scale>
        <p:origin x="432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7-43B0-8B78-CABD5939307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67-43B0-8B78-CABD5939307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67-43B0-8B78-CABD59393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4B-483A-8513-5125EC87C351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4B-483A-8513-5125EC87C35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4B-483A-8513-5125EC87C351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4B-483A-8513-5125EC87C351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4B-483A-8513-5125EC87C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46-41F4-85A5-90A4F63D6700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46-41F4-85A5-90A4F63D67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46-41F4-85A5-90A4F63D6700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46-41F4-85A5-90A4F63D6700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46-41F4-85A5-90A4F63D6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6-4A39-BD47-A8409F02A7D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46-4A39-BD47-A8409F02A7D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46-4A39-BD47-A8409F02A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2468080"/>
        <c:axId val="1141335776"/>
      </c:barChart>
      <c:catAx>
        <c:axId val="9224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1141335776"/>
        <c:crosses val="autoZero"/>
        <c:auto val="1"/>
        <c:lblAlgn val="ctr"/>
        <c:lblOffset val="100"/>
        <c:noMultiLvlLbl val="0"/>
      </c:catAx>
      <c:valAx>
        <c:axId val="11413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 Sans ExtraBold"/>
                <a:ea typeface="Nunito Sans ExtraBold"/>
                <a:cs typeface="+mn-cs"/>
              </a:defRPr>
            </a:pPr>
            <a:endParaRPr lang="ru-RU"/>
          </a:p>
        </c:txPr>
        <c:crossAx val="9224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38-4010-9EF6-2FBF83FACC02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38-4010-9EF6-2FBF83FACC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38-4010-9EF6-2FBF83FACC02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38-4010-9EF6-2FBF83FACC02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38-4010-9EF6-2FBF83FAC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AD-45F8-A719-2071FEF93AC9}"/>
              </c:ext>
            </c:extLst>
          </c:dPt>
          <c:dPt>
            <c:idx val="1"/>
            <c:bubble3D val="0"/>
            <c:spPr>
              <a:solidFill>
                <a:srgbClr val="286FE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0AD-45F8-A719-2071FEF93AC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0AD-45F8-A719-2071FEF93AC9}"/>
              </c:ext>
            </c:extLst>
          </c:dPt>
          <c:dPt>
            <c:idx val="3"/>
            <c:bubble3D val="0"/>
            <c:spPr>
              <a:solidFill>
                <a:srgbClr val="8C8C8C"/>
              </a:solidFill>
              <a:ln w="19050">
                <a:solidFill>
                  <a:srgbClr val="8C8C8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0AD-45F8-A719-2071FEF93AC9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AD-45F8-A719-2071FEF93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unito Sans ExtraBold"/>
              <a:ea typeface="Nunito Sans ExtraBold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38100">
      <a:solidFill>
        <a:srgbClr val="286FE5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2408143-EB30-4AA3-8610-AEFE512509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A64DB5-5717-4BEF-8AC0-26D3CCF77C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57D3-7643-445A-92AB-3517B3725C26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893248-79D1-472B-AE93-1A5218657A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410A7A-5598-491D-A64D-A4DCDA4977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D6-BFC2-4DD7-B8A7-9DF9E8F424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348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1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up 4" descr="preencoded.png">
            <a:extLst>
              <a:ext uri="{FF2B5EF4-FFF2-40B4-BE49-F238E27FC236}">
                <a16:creationId xmlns:a16="http://schemas.microsoft.com/office/drawing/2014/main" id="{EFF1CBB7-E592-4F72-9E11-A81F7B461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20250" y="1428750"/>
            <a:ext cx="7953375" cy="7048500"/>
          </a:xfrm>
          <a:prstGeom prst="rect">
            <a:avLst/>
          </a:prstGeom>
        </p:spPr>
      </p:pic>
      <p:sp>
        <p:nvSpPr>
          <p:cNvPr id="6" name="Текст 4">
            <a:extLst>
              <a:ext uri="{FF2B5EF4-FFF2-40B4-BE49-F238E27FC236}">
                <a16:creationId xmlns:a16="http://schemas.microsoft.com/office/drawing/2014/main" id="{91ED8208-C327-4B77-A83F-FC267B205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56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5E20D2-9293-4F90-9416-D4F1C4920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tx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11FE70F-1751-4F1A-A30A-848B8CB9CF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rgbClr val="286FE5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7495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9">
            <a:extLst>
              <a:ext uri="{FF2B5EF4-FFF2-40B4-BE49-F238E27FC236}">
                <a16:creationId xmlns:a16="http://schemas.microsoft.com/office/drawing/2014/main" id="{37449E3D-C1DB-45E1-BD80-A942D671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DC2213-0F67-486E-8CF4-FACDA2534B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Текст 23">
            <a:extLst>
              <a:ext uri="{FF2B5EF4-FFF2-40B4-BE49-F238E27FC236}">
                <a16:creationId xmlns:a16="http://schemas.microsoft.com/office/drawing/2014/main" id="{230AABAC-9576-49C7-A2CB-1822DB98E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C998EDD-1BC5-4EFD-803E-A810D91608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Текст 23">
            <a:extLst>
              <a:ext uri="{FF2B5EF4-FFF2-40B4-BE49-F238E27FC236}">
                <a16:creationId xmlns:a16="http://schemas.microsoft.com/office/drawing/2014/main" id="{AA70463E-02FF-4AFE-A3C4-5DDC54E35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1B627428-DE87-4935-A55B-F4B39220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14">
            <a:extLst>
              <a:ext uri="{FF2B5EF4-FFF2-40B4-BE49-F238E27FC236}">
                <a16:creationId xmlns:a16="http://schemas.microsoft.com/office/drawing/2014/main" id="{47C71182-74D8-49E1-8B16-01F96F371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BD3B1-CA26-4579-9720-B5099B56FB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134404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D292F892-BD09-EB67-02F5-5587348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6B2989-22D0-53DB-44B2-10C9F29F4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Рисунок 9">
            <a:extLst>
              <a:ext uri="{FF2B5EF4-FFF2-40B4-BE49-F238E27FC236}">
                <a16:creationId xmlns:a16="http://schemas.microsoft.com/office/drawing/2014/main" id="{7447184F-F1B6-A6C4-2095-314B84799E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ABAB84FB-6BCD-41AD-8DF1-5D211D47F7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295525"/>
            <a:ext cx="9631435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</a:t>
            </a:r>
          </a:p>
        </p:txBody>
      </p:sp>
    </p:spTree>
    <p:extLst>
      <p:ext uri="{BB962C8B-B14F-4D97-AF65-F5344CB8AC3E}">
        <p14:creationId xmlns:p14="http://schemas.microsoft.com/office/powerpoint/2010/main" val="6642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8BE58EDD-5F3B-AE1B-6B5B-920BD6D6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CD7B5298-8A06-4222-85BB-A57BD0980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A2524EB-DF1F-4FE8-9784-294ED085B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7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>
            <a:extLst>
              <a:ext uri="{FF2B5EF4-FFF2-40B4-BE49-F238E27FC236}">
                <a16:creationId xmlns:a16="http://schemas.microsoft.com/office/drawing/2014/main" id="{A6D6DD05-6D23-3622-936F-8176A1FEF6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648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7F73213-1948-4724-9DCE-56F2C34C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id="{38449E18-B00F-4C29-9716-CACCB83B1F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id="{59F71F64-8485-4FD2-87D1-44F182BB4D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FEE4F88B-D793-4AAA-8F46-20A27F116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9">
            <a:extLst>
              <a:ext uri="{FF2B5EF4-FFF2-40B4-BE49-F238E27FC236}">
                <a16:creationId xmlns:a16="http://schemas.microsoft.com/office/drawing/2014/main" id="{D6CE896A-5A91-4ADC-9CCF-3E7A275FAF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9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D1EBD-EDAB-B3D2-A901-8CC7F3ED6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54176B-895E-3197-0A81-348C234E7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5B845EEC-6CF5-474B-8432-6CC8C5AD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3">
            <a:extLst>
              <a:ext uri="{FF2B5EF4-FFF2-40B4-BE49-F238E27FC236}">
                <a16:creationId xmlns:a16="http://schemas.microsoft.com/office/drawing/2014/main" id="{FA1DADC3-73B4-4517-961E-96AD3A0434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D56C923F-669B-4A7D-B266-F7B38A40D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732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39D9EE-2836-6FCC-EBE0-0D15216F8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F5A80529-A754-4C43-9B67-8A1A3870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AECADCD2-F9B8-4D1F-B77E-2BE481958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64361"/>
            <a:ext cx="16166460" cy="59058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288308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0DE615-1C15-0278-D235-E356254873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919287"/>
            <a:ext cx="8124825" cy="6448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9D4693-ACA9-8796-D4B2-6DF53DB538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2" y="1919287"/>
            <a:ext cx="8124825" cy="64484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6F05270A-D929-4C6C-8EF6-E872310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E017D-26FB-457D-9CF0-2255E36D3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BD9938E6-9712-4524-9596-28BCAAC39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77426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A742366-C0C4-4142-9267-E58D0AA836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8AB634BB-B496-4CCE-AE4B-3258993D2A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7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93921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9178377-8839-82A9-22ED-9FD3212480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7775" y="1919287"/>
            <a:ext cx="3905250" cy="64484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9DF8B-5E9F-0161-0C58-4C6845366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710" y="1919287"/>
            <a:ext cx="3905250" cy="644842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4AF4928-8D82-3A4A-729D-EE24AFC257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35042" y="1919287"/>
            <a:ext cx="3905250" cy="64484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D71E827-E340-CDCD-4C02-291CB7FD3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E3ED94B4-A49E-4FC0-B807-21FFB34C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78200342-E889-4F04-B34F-5D4906FEE0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CC5DF422-F239-4344-90F4-ACF5CDD987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873CFA3B-777A-4432-997B-423861934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8E5DB00B-54CF-4B0F-908B-41750390B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6" name="Текст 3">
            <a:extLst>
              <a:ext uri="{FF2B5EF4-FFF2-40B4-BE49-F238E27FC236}">
                <a16:creationId xmlns:a16="http://schemas.microsoft.com/office/drawing/2014/main" id="{3AF21A78-B857-4694-9A14-0B13992914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F1369989-7532-4806-89FE-D836C96714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38" name="Текст 3">
            <a:extLst>
              <a:ext uri="{FF2B5EF4-FFF2-40B4-BE49-F238E27FC236}">
                <a16:creationId xmlns:a16="http://schemas.microsoft.com/office/drawing/2014/main" id="{15A99355-9FCC-430F-A451-9441103623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5F1A653F-5392-490D-A75A-BC782DC68A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+mn-lt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122365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ECBE4D-E92E-4634-8544-785D2B35B0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6985" y="5182281"/>
            <a:ext cx="4648200" cy="366712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C16FA4-9CA7-471D-94C6-105D031632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425" y="1863499"/>
            <a:ext cx="14763750" cy="2152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0602DF4-442D-4E69-9AD7-1B21BE38BA5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375" y="1770969"/>
            <a:ext cx="3600450" cy="17811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36E536-AA52-4F9A-A308-8469690E9E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3175" y="1770969"/>
            <a:ext cx="3600450" cy="17811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34AD8A-69BC-440A-8F9F-89035AD5E86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3775" y="1770969"/>
            <a:ext cx="3600450" cy="17811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333250-0D2B-4EB3-8A3F-6498595DCF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2125" y="3289187"/>
            <a:ext cx="14763750" cy="21526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E31A93-1FA6-4F06-AA22-59CC625EF63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9368" y="4810806"/>
            <a:ext cx="14763750" cy="2152650"/>
          </a:xfrm>
          <a:prstGeom prst="rect">
            <a:avLst/>
          </a:prstGeom>
        </p:spPr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62FAFC3A-5BCE-44F2-9BA7-DDCA038310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162" y="4758851"/>
            <a:ext cx="3600450" cy="178117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A99FD765-7E36-4AC9-81CC-4A6CDF19CAF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82962" y="4758851"/>
            <a:ext cx="3600450" cy="178117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2E376F7C-B28F-40EF-A1E7-A1D303D843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3562" y="4758851"/>
            <a:ext cx="3600450" cy="1781175"/>
          </a:xfrm>
          <a:prstGeom prst="rect">
            <a:avLst/>
          </a:prstGeom>
        </p:spPr>
      </p:pic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64" name="Заголовок 9">
            <a:extLst>
              <a:ext uri="{FF2B5EF4-FFF2-40B4-BE49-F238E27FC236}">
                <a16:creationId xmlns:a16="http://schemas.microsoft.com/office/drawing/2014/main" id="{ECCB9458-1706-40E4-9E02-0FE3825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F77E2DCA-E7BC-497F-938E-359230427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8350AAF6-993F-4C6B-8F06-7391B1525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2" name="Текст 5">
            <a:extLst>
              <a:ext uri="{FF2B5EF4-FFF2-40B4-BE49-F238E27FC236}">
                <a16:creationId xmlns:a16="http://schemas.microsoft.com/office/drawing/2014/main" id="{74F090D6-86FD-4867-8A5C-E92907BC22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7" name="Текст 5">
            <a:extLst>
              <a:ext uri="{FF2B5EF4-FFF2-40B4-BE49-F238E27FC236}">
                <a16:creationId xmlns:a16="http://schemas.microsoft.com/office/drawing/2014/main" id="{DDFA75C2-E15C-467E-B971-336F75E2E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3" name="Текст 5">
            <a:extLst>
              <a:ext uri="{FF2B5EF4-FFF2-40B4-BE49-F238E27FC236}">
                <a16:creationId xmlns:a16="http://schemas.microsoft.com/office/drawing/2014/main" id="{D1A069E7-859A-4CEC-BA63-460AEFE31D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4" name="Текст 5">
            <a:extLst>
              <a:ext uri="{FF2B5EF4-FFF2-40B4-BE49-F238E27FC236}">
                <a16:creationId xmlns:a16="http://schemas.microsoft.com/office/drawing/2014/main" id="{BE9225B9-A0B4-410F-8847-82BACF3591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id="{AB89A480-0814-4BB1-B1C8-CF52F026AD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54756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3651B9A9-190D-4F76-975D-8FD3987A28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0DBB9C00-E83C-403C-A874-7338C61C9C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14C50B11-419F-460E-8E0B-E0287A7CA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266394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2CFFC-E972-48BC-A239-1302EA92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124D58D7-8109-481A-B577-481D89FD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71B40F52-9D5E-403D-A1ED-66DDF48D17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4FB895DE-9832-4E83-8556-6A414A391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50"/>
            <a:ext cx="7540625" cy="60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</a:t>
            </a:r>
          </a:p>
        </p:txBody>
      </p:sp>
    </p:spTree>
    <p:extLst>
      <p:ext uri="{BB962C8B-B14F-4D97-AF65-F5344CB8AC3E}">
        <p14:creationId xmlns:p14="http://schemas.microsoft.com/office/powerpoint/2010/main" val="779179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2C29D-F68C-431C-91D7-072125123F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06154"/>
            <a:ext cx="8248650" cy="31896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F47ADA-863B-48F2-B87E-44915ADE5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3" y="5348378"/>
            <a:ext cx="8248650" cy="318969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1C4815-3C8E-4231-AE1B-E4E1409B68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2179" y="1706154"/>
            <a:ext cx="8248650" cy="318969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51EAB8-91AC-4C9E-A9C2-0D0D03FBB3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3577" y="5348378"/>
            <a:ext cx="8248650" cy="3189695"/>
          </a:xfrm>
          <a:prstGeom prst="rect">
            <a:avLst/>
          </a:prstGeom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DF38F240-A6C8-4632-8D91-5B1B6F0F1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04CF72A9-1AD8-4986-AD24-F4221BD88B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FC3A6068-3522-450A-8BC3-6074229AEB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00251C3A-0C66-4C34-9ED2-141B3328DF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568308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B078041-8FE2-41C6-914D-197B333FD9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02F61F8-079C-4E9B-81F0-C4FDEB9455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773FC554-EC62-455C-9EF5-4D52C4724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657B71E1-3BCF-4641-8205-8BD86F0698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45" name="Текст 12">
            <a:extLst>
              <a:ext uri="{FF2B5EF4-FFF2-40B4-BE49-F238E27FC236}">
                <a16:creationId xmlns:a16="http://schemas.microsoft.com/office/drawing/2014/main" id="{A1EC15C9-E11A-491E-93DA-AD24A4532D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46" name="Текст 12">
            <a:extLst>
              <a:ext uri="{FF2B5EF4-FFF2-40B4-BE49-F238E27FC236}">
                <a16:creationId xmlns:a16="http://schemas.microsoft.com/office/drawing/2014/main" id="{D0E22D35-CD9C-4E5D-AC08-2B3B3B349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9F1BCC2-B988-4DA2-BC21-4443918CD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6EEF3A8-A096-4E36-BDBD-12FBC3D530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3E881F2-24EC-4E02-8215-AD4243742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53EC41C-EB4B-42CF-91AF-B92AA76E56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EC74D3FA-4017-4604-9AF5-A14CC892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C222A87D-30D4-4BB1-957D-8D81D4C4F0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9748A6C7-00EA-4AAF-A924-75A3E138A9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BB5DA19-2F5D-466D-B579-008774787B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99DADFC9-CAC9-4AFA-8400-5DD06CA990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F32AD177-3EF7-4DEF-ACC3-E29CCE2B46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FEDAA214-6779-4BB9-9F0C-9B7831D234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231062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7B2C6FB4-C6F6-4C44-ABBA-F23B1976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01EB6D5-326F-49AB-83B6-FF70197F5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CF85C3C-F169-4781-B136-ED157B6C33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1D58777-D9A3-40D4-91DF-DA77DB2903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717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81261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41526D-F8BF-4B73-9599-77847599A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B32CE-FD08-4440-9EF0-62BECAE28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B1980E-AF6E-47C5-A511-BD83BDA4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FFC465-6750-4768-B02F-9BE4D4C7D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F4B90E-EB2E-4B84-9C2C-DD9B4D3A98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34B7C5-E747-42E0-9294-EC2C83ADA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A148E0B-30CC-4CF6-92F8-F1361BDA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83787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65CE2F5-63FA-4D0B-9320-826A846678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2" name="Текст 18">
            <a:extLst>
              <a:ext uri="{FF2B5EF4-FFF2-40B4-BE49-F238E27FC236}">
                <a16:creationId xmlns:a16="http://schemas.microsoft.com/office/drawing/2014/main" id="{E590927A-786E-488B-9963-8507B596CC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623022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6FE452D5-4AF8-4A5F-8527-DA8D814DA6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2513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98578273-4687-41F3-9591-4E6E1FA42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6231622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</a:t>
            </a:r>
            <a:r>
              <a:rPr lang="ru-RU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й</a:t>
            </a:r>
            <a:endParaRPr lang="en-US" sz="3200" dirty="0"/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C778C7EE-97A5-4744-BF56-6A3A7A25B8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2523684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sp>
        <p:nvSpPr>
          <p:cNvPr id="30" name="Текст 18">
            <a:extLst>
              <a:ext uri="{FF2B5EF4-FFF2-40B4-BE49-F238E27FC236}">
                <a16:creationId xmlns:a16="http://schemas.microsoft.com/office/drawing/2014/main" id="{1B3A2C8A-D7A9-4791-90F8-3C3B2D2F49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624140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6C874A-BD4C-4438-9044-43C8657F37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851743"/>
            <a:ext cx="548896" cy="548896"/>
          </a:xfrm>
          <a:prstGeom prst="rect">
            <a:avLst/>
          </a:prstGeom>
        </p:spPr>
      </p:pic>
      <p:sp>
        <p:nvSpPr>
          <p:cNvPr id="16" name="Текст 8">
            <a:extLst>
              <a:ext uri="{FF2B5EF4-FFF2-40B4-BE49-F238E27FC236}">
                <a16:creationId xmlns:a16="http://schemas.microsoft.com/office/drawing/2014/main" id="{F8F6E311-0D27-49D0-8531-DC5964A196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0349" y="1891240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4CB7EB-DE29-482C-8C88-A1E36AFF86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2092" y="1853141"/>
            <a:ext cx="548896" cy="548896"/>
          </a:xfrm>
          <a:prstGeom prst="rect">
            <a:avLst/>
          </a:prstGeom>
        </p:spPr>
      </p:pic>
      <p:sp>
        <p:nvSpPr>
          <p:cNvPr id="21" name="Текст 8">
            <a:extLst>
              <a:ext uri="{FF2B5EF4-FFF2-40B4-BE49-F238E27FC236}">
                <a16:creationId xmlns:a16="http://schemas.microsoft.com/office/drawing/2014/main" id="{C3D69292-EBBB-4C7B-A711-3A96745064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31768" y="1892638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FF45467-0638-4BED-A170-30160F0458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78678" y="1854539"/>
            <a:ext cx="548896" cy="548896"/>
          </a:xfrm>
          <a:prstGeom prst="rect">
            <a:avLst/>
          </a:prstGeom>
        </p:spPr>
      </p:pic>
      <p:sp>
        <p:nvSpPr>
          <p:cNvPr id="24" name="Текст 8">
            <a:extLst>
              <a:ext uri="{FF2B5EF4-FFF2-40B4-BE49-F238E27FC236}">
                <a16:creationId xmlns:a16="http://schemas.microsoft.com/office/drawing/2014/main" id="{1C2385B0-B0CC-4967-8DA5-A8C8201656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8354" y="189403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A4E317A-1F18-49A6-9ECB-FCF459306F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018" y="5585558"/>
            <a:ext cx="548896" cy="548896"/>
          </a:xfrm>
          <a:prstGeom prst="rect">
            <a:avLst/>
          </a:prstGeom>
        </p:spPr>
      </p:pic>
      <p:sp>
        <p:nvSpPr>
          <p:cNvPr id="28" name="Текст 8">
            <a:extLst>
              <a:ext uri="{FF2B5EF4-FFF2-40B4-BE49-F238E27FC236}">
                <a16:creationId xmlns:a16="http://schemas.microsoft.com/office/drawing/2014/main" id="{E70B18BD-F499-49BD-AC84-C0D77D5D75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2694" y="5625055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ACF5B11-830E-4FA0-9316-DE4C7DD2A8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4437" y="5586956"/>
            <a:ext cx="548896" cy="548896"/>
          </a:xfrm>
          <a:prstGeom prst="rect">
            <a:avLst/>
          </a:prstGeom>
        </p:spPr>
      </p:pic>
      <p:sp>
        <p:nvSpPr>
          <p:cNvPr id="32" name="Текст 8">
            <a:extLst>
              <a:ext uri="{FF2B5EF4-FFF2-40B4-BE49-F238E27FC236}">
                <a16:creationId xmlns:a16="http://schemas.microsoft.com/office/drawing/2014/main" id="{AD78E378-9C4F-4A92-9083-918D7C4321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94113" y="562645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F4480A8-EC02-4F32-82B8-003353A425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41023" y="5588354"/>
            <a:ext cx="548896" cy="548896"/>
          </a:xfrm>
          <a:prstGeom prst="rect">
            <a:avLst/>
          </a:prstGeom>
        </p:spPr>
      </p:pic>
      <p:sp>
        <p:nvSpPr>
          <p:cNvPr id="34" name="Текст 8">
            <a:extLst>
              <a:ext uri="{FF2B5EF4-FFF2-40B4-BE49-F238E27FC236}">
                <a16:creationId xmlns:a16="http://schemas.microsoft.com/office/drawing/2014/main" id="{EBF5B629-E477-4226-9E21-5067B7A858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00699" y="5627851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26549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5704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5F8ACE-3E1C-4E39-B472-143D79ED0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7D4C63-E01B-4945-B60C-D2946014B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495573C3-4AA9-45B3-983F-DCFC27C4DA0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3660916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35939A2-24AA-4602-8842-9F39E411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E4E25D1F-DF6C-4600-85F0-89C866A47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3831360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0007F1-7E97-4CCE-9A29-BFD83D605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CC94E47-8036-4118-B62C-DE61848670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66961868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AFC3533-23C9-4CED-A445-6E85CA86805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63595689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AACD8758-D2E7-4AD3-B184-673B73C7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25072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етлая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0F82ED-6DDA-4DF9-83FA-1F1DB1E02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4E562170-3E91-4D96-BE30-C110237F5A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89029810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+mj-lt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DEAF7BF6-5466-49A4-A22E-9658A429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47427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2">
            <a:extLst>
              <a:ext uri="{FF2B5EF4-FFF2-40B4-BE49-F238E27FC236}">
                <a16:creationId xmlns:a16="http://schemas.microsoft.com/office/drawing/2014/main" id="{F1F5113F-0417-493E-A617-2CCE169D32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84996" y="1333500"/>
            <a:ext cx="8422049" cy="7429500"/>
          </a:xfrm>
          <a:prstGeom prst="rect">
            <a:avLst/>
          </a:prstGeom>
        </p:spPr>
      </p:pic>
      <p:sp>
        <p:nvSpPr>
          <p:cNvPr id="7" name="Текст 4">
            <a:extLst>
              <a:ext uri="{FF2B5EF4-FFF2-40B4-BE49-F238E27FC236}">
                <a16:creationId xmlns:a16="http://schemas.microsoft.com/office/drawing/2014/main" id="{5058C5E0-31C9-416B-84BC-54D3368D1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375" y="1428750"/>
            <a:ext cx="7953375" cy="7048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Шаблон для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54663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8E8A81A-61CA-4CF7-A415-6B979B86D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1142999"/>
            <a:ext cx="12810036" cy="1591492"/>
          </a:xfrm>
          <a:prstGeom prst="rect">
            <a:avLst/>
          </a:prstGeom>
        </p:spPr>
        <p:txBody>
          <a:bodyPr/>
          <a:lstStyle>
            <a:lvl1pPr algn="l">
              <a:defRPr sz="96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Слайд - разделитель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FBCC4F03-8004-4143-B155-5A12936C6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6791" y="1938745"/>
            <a:ext cx="12486409" cy="9865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680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103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4C277B2-BDC6-4C6C-859A-6483CF1F1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390775"/>
            <a:ext cx="14287500" cy="3810000"/>
          </a:xfrm>
          <a:prstGeom prst="rect">
            <a:avLst/>
          </a:prstGeom>
        </p:spPr>
      </p:pic>
      <p:sp>
        <p:nvSpPr>
          <p:cNvPr id="23" name="Заголовок 9">
            <a:extLst>
              <a:ext uri="{FF2B5EF4-FFF2-40B4-BE49-F238E27FC236}">
                <a16:creationId xmlns:a16="http://schemas.microsoft.com/office/drawing/2014/main" id="{2A251B0B-F3A3-4267-A4B5-F3EBD6B3B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3" y="344274"/>
            <a:ext cx="16859254" cy="1707809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98D00E-4355-40A6-8C19-77FF4348B8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7750" y="2647950"/>
            <a:ext cx="13600113" cy="3341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rgbClr val="286FE5"/>
                </a:solidFill>
                <a:latin typeface="Nunito Sans Bold" pitchFamily="2" charset="-52"/>
              </a:defRPr>
            </a:lvl1pPr>
          </a:lstStyle>
          <a:p>
            <a:pPr lvl="0"/>
            <a:r>
              <a:rPr lang="ru-RU" dirty="0"/>
              <a:t>Было принято около</a:t>
            </a:r>
          </a:p>
          <a:p>
            <a:pPr lvl="0"/>
            <a:r>
              <a:rPr lang="ru-RU" dirty="0"/>
              <a:t>600 абитуриентов</a:t>
            </a:r>
          </a:p>
        </p:txBody>
      </p:sp>
    </p:spTree>
    <p:extLst>
      <p:ext uri="{BB962C8B-B14F-4D97-AF65-F5344CB8AC3E}">
        <p14:creationId xmlns:p14="http://schemas.microsoft.com/office/powerpoint/2010/main" val="762569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1A45BF42-8547-4F80-8725-507CCAF5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4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611012-1265-4F4C-911C-E330CF43E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Текст 23">
            <a:extLst>
              <a:ext uri="{FF2B5EF4-FFF2-40B4-BE49-F238E27FC236}">
                <a16:creationId xmlns:a16="http://schemas.microsoft.com/office/drawing/2014/main" id="{5A4FEC76-4699-487E-8239-C15808EDD9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8352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B6F745-18EF-4B92-9232-0D2CE28750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4" y="1706601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Текст 23">
            <a:extLst>
              <a:ext uri="{FF2B5EF4-FFF2-40B4-BE49-F238E27FC236}">
                <a16:creationId xmlns:a16="http://schemas.microsoft.com/office/drawing/2014/main" id="{9FF6986F-2810-4102-9F83-07D67CA396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749" y="2117725"/>
            <a:ext cx="7505700" cy="6051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ans SemiBold" pitchFamily="2" charset="-52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 Господа, постоянное обеспечение.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904429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DC0CB4DC-E927-468E-94BD-1242278FD8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89DB18-E1B1-4EF4-BA87-F4FBF1C327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631C73-7DA6-4C42-956E-A679912B9647}"/>
              </a:ext>
            </a:extLst>
          </p:cNvPr>
          <p:cNvSpPr/>
          <p:nvPr userDrawn="1"/>
        </p:nvSpPr>
        <p:spPr>
          <a:xfrm>
            <a:off x="1047750" y="2295525"/>
            <a:ext cx="7223414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endParaRPr lang="en-US" sz="3600" dirty="0"/>
          </a:p>
        </p:txBody>
      </p:sp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FA315BEE-BC5D-4E40-A3E3-073B22F1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2486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Extra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BE80D66E-38F6-4AE8-A579-8AE98ED81E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7651750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 </a:t>
            </a:r>
          </a:p>
        </p:txBody>
      </p:sp>
    </p:spTree>
    <p:extLst>
      <p:ext uri="{BB962C8B-B14F-4D97-AF65-F5344CB8AC3E}">
        <p14:creationId xmlns:p14="http://schemas.microsoft.com/office/powerpoint/2010/main" val="2731802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6FC7FFA0-9BD1-2802-5684-0D250E76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781CCB-D23C-802D-DEA2-EA298C9C18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10287454" cy="6133419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Рисунок 9">
            <a:extLst>
              <a:ext uri="{FF2B5EF4-FFF2-40B4-BE49-F238E27FC236}">
                <a16:creationId xmlns:a16="http://schemas.microsoft.com/office/drawing/2014/main" id="{E9A991A7-15A0-4347-90FC-BFF7E705F1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25263" y="714375"/>
            <a:ext cx="5953125" cy="8858250"/>
          </a:xfrm>
          <a:prstGeom prst="roundRect">
            <a:avLst>
              <a:gd name="adj" fmla="val 793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219BDA1B-8B0C-4353-B655-A6E6F546E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50" y="2295525"/>
            <a:ext cx="9690158" cy="550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</a:t>
            </a:r>
            <a:r>
              <a:rPr lang="ru-RU" dirty="0" err="1"/>
              <a:t>тщательные.Как</a:t>
            </a:r>
            <a:r>
              <a:rPr lang="ru-RU" dirty="0"/>
              <a:t> принято считать, базовые сценарии поведения пользователей объединены. Как принято считать, базовые сценарии поведения пользователей объединены в целые кластеры себе подобных. А также тщательные.</a:t>
            </a:r>
          </a:p>
        </p:txBody>
      </p:sp>
    </p:spTree>
    <p:extLst>
      <p:ext uri="{BB962C8B-B14F-4D97-AF65-F5344CB8AC3E}">
        <p14:creationId xmlns:p14="http://schemas.microsoft.com/office/powerpoint/2010/main" val="401806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EC12DDEC-4F27-B7C4-EA8A-DCC66798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557EC503-DDC0-69D2-065D-06994CDABC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658938"/>
            <a:ext cx="8081963" cy="6948487"/>
          </a:xfrm>
          <a:prstGeom prst="roundRect">
            <a:avLst>
              <a:gd name="adj" fmla="val 640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43090C0F-09D3-8DC7-7AF1-8FAEBAE2D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662" y="1658483"/>
            <a:ext cx="8081963" cy="6948487"/>
          </a:xfrm>
          <a:prstGeom prst="roundRect">
            <a:avLst>
              <a:gd name="adj" fmla="val 5922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709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C40BB6BC-2B41-861F-189D-279EA3E7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F545BFBD-E4F5-4C4D-B423-E9FDA6188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3" y="1571625"/>
            <a:ext cx="16859252" cy="7143750"/>
          </a:xfrm>
          <a:prstGeom prst="roundRect">
            <a:avLst>
              <a:gd name="adj" fmla="val 6685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529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9">
            <a:extLst>
              <a:ext uri="{FF2B5EF4-FFF2-40B4-BE49-F238E27FC236}">
                <a16:creationId xmlns:a16="http://schemas.microsoft.com/office/drawing/2014/main" id="{1A8B13EF-E25F-377E-B0E3-72DFAC34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9">
            <a:extLst>
              <a:ext uri="{FF2B5EF4-FFF2-40B4-BE49-F238E27FC236}">
                <a16:creationId xmlns:a16="http://schemas.microsoft.com/office/drawing/2014/main" id="{477ACEF1-E219-F732-3BB5-07CA6FE497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59" y="1480911"/>
            <a:ext cx="8074456" cy="3421291"/>
          </a:xfrm>
          <a:prstGeom prst="roundRect">
            <a:avLst>
              <a:gd name="adj" fmla="val 759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Рисунок 9">
            <a:extLst>
              <a:ext uri="{FF2B5EF4-FFF2-40B4-BE49-F238E27FC236}">
                <a16:creationId xmlns:a16="http://schemas.microsoft.com/office/drawing/2014/main" id="{11D2835E-FE49-E2CE-24DE-8146109A3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4373" y="5203375"/>
            <a:ext cx="8074456" cy="3421291"/>
          </a:xfrm>
          <a:prstGeom prst="roundRect">
            <a:avLst>
              <a:gd name="adj" fmla="val 8330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Рисунок 9">
            <a:extLst>
              <a:ext uri="{FF2B5EF4-FFF2-40B4-BE49-F238E27FC236}">
                <a16:creationId xmlns:a16="http://schemas.microsoft.com/office/drawing/2014/main" id="{CB82BC76-FA42-6DD7-A982-5999C0816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98743" y="1480911"/>
            <a:ext cx="8074456" cy="3421291"/>
          </a:xfrm>
          <a:prstGeom prst="roundRect">
            <a:avLst>
              <a:gd name="adj" fmla="val 8085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Рисунок 9">
            <a:extLst>
              <a:ext uri="{FF2B5EF4-FFF2-40B4-BE49-F238E27FC236}">
                <a16:creationId xmlns:a16="http://schemas.microsoft.com/office/drawing/2014/main" id="{E4B9651C-A8BD-523E-A21D-BB58F4EB1C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8743" y="5203374"/>
            <a:ext cx="8074456" cy="3421291"/>
          </a:xfrm>
          <a:prstGeom prst="roundRect">
            <a:avLst>
              <a:gd name="adj" fmla="val 784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20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94EB6-77C2-177B-7D7B-EAEAA84A3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971C5F-6772-8C16-FCBA-23C341206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E07B7992-7CDC-89B4-37DA-3C4A3F71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63212F80-92B0-46DD-AC38-E1AB547A1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385327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  <p:sp>
        <p:nvSpPr>
          <p:cNvPr id="13" name="Текст 23">
            <a:extLst>
              <a:ext uri="{FF2B5EF4-FFF2-40B4-BE49-F238E27FC236}">
                <a16:creationId xmlns:a16="http://schemas.microsoft.com/office/drawing/2014/main" id="{7698702A-8E97-4917-BF6E-D20FF56ED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39483" y="2385326"/>
            <a:ext cx="7505700" cy="5163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Как принято считать, базовые сценарии поведения пользователей объединены в целые кластеры себе подобных. А также тщательные исследования конкурентов, превозмогая сложившуюся непростую экономическую ситуацию, разоблачены.</a:t>
            </a:r>
            <a:endParaRPr lang="en-US" sz="3600" dirty="0">
              <a:latin typeface="Nuni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5034257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5E3A87-9302-256F-D988-384ABF69C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85937"/>
            <a:ext cx="16859250" cy="6715125"/>
          </a:xfrm>
          <a:prstGeom prst="rect">
            <a:avLst/>
          </a:prstGeom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B4E5FC5-6E58-CDE2-EB2C-9474BB1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23">
            <a:extLst>
              <a:ext uri="{FF2B5EF4-FFF2-40B4-BE49-F238E27FC236}">
                <a16:creationId xmlns:a16="http://schemas.microsoft.com/office/drawing/2014/main" id="{BAF53B57-539B-443D-9F22-B3C8E6C05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7749" y="2125269"/>
            <a:ext cx="16116126" cy="6020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600" dirty="0">
                <a:latin typeface="Nunito Sans SemiBold"/>
              </a:rPr>
              <a:t>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Картельные сговоры не допускают ситуации, при которой реплицированные с зарубежных источников, современные исследования формируют глобальную экономическую сеть и при этом — ограничены исключительно образом мышления. Значимость этих проблем настолько очевидна, что выбранный нами инновационный путь говорит о возможностях системы массового участия. С другой стороны, высокотехнологичная концепция общественного уклада обеспечивает актуальность </a:t>
            </a:r>
            <a:r>
              <a:rPr lang="ru-RU" sz="3600" dirty="0" err="1">
                <a:latin typeface="Nunito Sans SemiBold"/>
              </a:rPr>
              <a:t>приоретизации</a:t>
            </a:r>
            <a:r>
              <a:rPr lang="ru-RU" sz="3600" dirty="0">
                <a:latin typeface="Nunito Sans SemiBold"/>
              </a:rPr>
              <a:t> разума над эмоциями. </a:t>
            </a:r>
          </a:p>
        </p:txBody>
      </p:sp>
    </p:spTree>
    <p:extLst>
      <p:ext uri="{BB962C8B-B14F-4D97-AF65-F5344CB8AC3E}">
        <p14:creationId xmlns:p14="http://schemas.microsoft.com/office/powerpoint/2010/main" val="8223774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69F1B95-101B-C0CF-26AC-0EB4AEDF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0" y="1919286"/>
            <a:ext cx="8124825" cy="64484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6B62BA-D638-4705-35A3-5C1A5000C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8124825" cy="6448425"/>
          </a:xfrm>
          <a:prstGeom prst="rect">
            <a:avLst/>
          </a:prstGeom>
        </p:spPr>
      </p:pic>
      <p:sp>
        <p:nvSpPr>
          <p:cNvPr id="11" name="Заголовок 9">
            <a:extLst>
              <a:ext uri="{FF2B5EF4-FFF2-40B4-BE49-F238E27FC236}">
                <a16:creationId xmlns:a16="http://schemas.microsoft.com/office/drawing/2014/main" id="{0C2E3F58-8934-ED42-DACC-B5DC2D1E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3881149-E7F8-43DE-84B9-99672D863C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52525" y="2326028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1EEEEB4B-C721-454D-AAA7-E70BC9E85A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525" y="4010025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84E4D35C-BA0F-4467-A365-1E28B645F4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77424" y="2326027"/>
            <a:ext cx="7267576" cy="7301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1FC5CA01-8FD3-4F92-A849-7F0322488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77424" y="4010024"/>
            <a:ext cx="7267575" cy="3867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 считать, базовые сценарии поведения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50287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FA3BB8B-08FA-DE47-0B31-7DC3FD3AD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8375" y="1919285"/>
            <a:ext cx="3905250" cy="64484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9C922C-C613-DDFE-718A-B59D0B9E4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6408" y="1919286"/>
            <a:ext cx="3905250" cy="64484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38CB98F-27D4-9CEA-3602-D4C197E25F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6342" y="1919286"/>
            <a:ext cx="3905250" cy="64484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F9EDD2-2887-E675-2E4D-EB5D58167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919287"/>
            <a:ext cx="3905250" cy="6448425"/>
          </a:xfrm>
          <a:prstGeom prst="rect">
            <a:avLst/>
          </a:prstGeom>
        </p:spPr>
      </p:pic>
      <p:sp>
        <p:nvSpPr>
          <p:cNvPr id="15" name="Заголовок 9">
            <a:extLst>
              <a:ext uri="{FF2B5EF4-FFF2-40B4-BE49-F238E27FC236}">
                <a16:creationId xmlns:a16="http://schemas.microsoft.com/office/drawing/2014/main" id="{3F3F3877-B5EF-29DE-FC88-B2CD3DD1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411EF16D-BCF1-41A8-B454-FBAE215875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2525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E4FF2471-B709-4F8E-BEB3-DD95DFAF3C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2525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113E40B1-7724-461B-9381-D0336A435B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5535" y="2213580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5FEC63FE-D5D9-4812-959C-30B8BEF1F1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5535" y="3419286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C1A067F3-1374-41FA-963E-90DB130190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50783" y="2210784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D587C188-7208-4C3D-B7AB-DFCED17A98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0783" y="3416490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64562EF9-604D-4A27-B172-04A055121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13793" y="2212182"/>
            <a:ext cx="3100693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9">
            <a:extLst>
              <a:ext uri="{FF2B5EF4-FFF2-40B4-BE49-F238E27FC236}">
                <a16:creationId xmlns:a16="http://schemas.microsoft.com/office/drawing/2014/main" id="{7C3F6CA2-3053-49B9-9C96-5C45493AC1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13793" y="3417888"/>
            <a:ext cx="3100693" cy="46569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подобных, принято</a:t>
            </a:r>
          </a:p>
        </p:txBody>
      </p:sp>
    </p:spTree>
    <p:extLst>
      <p:ext uri="{BB962C8B-B14F-4D97-AF65-F5344CB8AC3E}">
        <p14:creationId xmlns:p14="http://schemas.microsoft.com/office/powerpoint/2010/main" val="924870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F7DCF16-1A91-461C-8611-5B4D655F5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7225" y="5179858"/>
            <a:ext cx="4648200" cy="366712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B2F25F9-6B9B-48B9-9913-F22A93389B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3228319"/>
            <a:ext cx="14629620" cy="241935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FA865C7-30A9-4966-9389-43E5EFD042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805" y="4617912"/>
            <a:ext cx="14249400" cy="241935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3065798-F67A-4190-96FF-8665136828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004" y="1665678"/>
            <a:ext cx="14629620" cy="24193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54A8BBC-0245-43D4-8846-008F6042373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82128" y="4760209"/>
            <a:ext cx="3600450" cy="178117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70A7DDA-2DFE-40F5-8ED0-DAA5706B772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4051" y="4761326"/>
            <a:ext cx="3600450" cy="178117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CA18619-7031-4ED3-A695-659F92D4FC8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600" y="4763561"/>
            <a:ext cx="3600450" cy="17811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425F72B-5F42-40F4-8626-3B81AA8B4B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2341" y="1770142"/>
            <a:ext cx="3600450" cy="178117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FDDE7F1-1EC5-43A1-A271-356E56AE50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4264" y="1771259"/>
            <a:ext cx="3600450" cy="178117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B7001407-6A94-46BD-B694-55C9E57D60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813" y="1773494"/>
            <a:ext cx="3600450" cy="17811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5CDA3-3AA3-48C9-A9C1-2B57127A043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7164" y="7224711"/>
            <a:ext cx="3600450" cy="1781175"/>
          </a:xfrm>
          <a:prstGeom prst="rect">
            <a:avLst/>
          </a:prstGeom>
        </p:spPr>
      </p:pic>
      <p:sp>
        <p:nvSpPr>
          <p:cNvPr id="30" name="Заголовок 9">
            <a:extLst>
              <a:ext uri="{FF2B5EF4-FFF2-40B4-BE49-F238E27FC236}">
                <a16:creationId xmlns:a16="http://schemas.microsoft.com/office/drawing/2014/main" id="{E24AAD49-301F-4E9E-895C-3A231784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343900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59C4C3C6-3947-404C-80FC-1DBA22C69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176" y="1946275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D9581FA9-DDAE-47F6-B6CB-0C27C96E3F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3294" y="1947529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83A1C5E5-C4E6-482E-89B1-70F85AF42B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57629" y="195107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C52A85B4-8C60-4B36-B313-95F8F9FCF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963" y="4934157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B6927A2-0DBE-4BC7-B3D2-CCC8FA0A9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081" y="4935411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2</a:t>
            </a:r>
            <a:r>
              <a:rPr lang="ru-RU" dirty="0"/>
              <a:t>.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0FD91000-031A-4E7B-A2B5-5D2A0480A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67416" y="4938953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58" name="Текст 34">
            <a:extLst>
              <a:ext uri="{FF2B5EF4-FFF2-40B4-BE49-F238E27FC236}">
                <a16:creationId xmlns:a16="http://schemas.microsoft.com/office/drawing/2014/main" id="{2C7C855C-8FA2-4274-9BF5-DA203B0E2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9374" y="7404114"/>
            <a:ext cx="452437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en-US" dirty="0"/>
              <a:t>3</a:t>
            </a:r>
            <a:r>
              <a:rPr lang="ru-RU" dirty="0"/>
              <a:t>.</a:t>
            </a:r>
          </a:p>
        </p:txBody>
      </p:sp>
      <p:sp>
        <p:nvSpPr>
          <p:cNvPr id="28" name="Текст 5">
            <a:extLst>
              <a:ext uri="{FF2B5EF4-FFF2-40B4-BE49-F238E27FC236}">
                <a16:creationId xmlns:a16="http://schemas.microsoft.com/office/drawing/2014/main" id="{A6A1F3AA-EC64-4496-B06B-D3B0B71FF0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0588" y="245745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29" name="Текст 5">
            <a:extLst>
              <a:ext uri="{FF2B5EF4-FFF2-40B4-BE49-F238E27FC236}">
                <a16:creationId xmlns:a16="http://schemas.microsoft.com/office/drawing/2014/main" id="{EC2DB3F5-DF97-4BE1-A675-661B92333C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33294" y="2468968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52C569DF-4FDE-4133-AEE2-08F6B1C5AC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4363" y="2458324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36" name="Текст 5">
            <a:extLst>
              <a:ext uri="{FF2B5EF4-FFF2-40B4-BE49-F238E27FC236}">
                <a16:creationId xmlns:a16="http://schemas.microsoft.com/office/drawing/2014/main" id="{F4812D15-585B-4A50-8C86-4B8887FFCF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1986" y="5453721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403211CB-3E1A-4A32-B77F-C791CAC626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4692" y="5465239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0" name="Текст 5">
            <a:extLst>
              <a:ext uri="{FF2B5EF4-FFF2-40B4-BE49-F238E27FC236}">
                <a16:creationId xmlns:a16="http://schemas.microsoft.com/office/drawing/2014/main" id="{BEA25344-4B59-4371-93FD-4D2BA4CC7DE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45761" y="5454595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  <p:sp>
        <p:nvSpPr>
          <p:cNvPr id="51" name="Текст 5">
            <a:extLst>
              <a:ext uri="{FF2B5EF4-FFF2-40B4-BE49-F238E27FC236}">
                <a16:creationId xmlns:a16="http://schemas.microsoft.com/office/drawing/2014/main" id="{BADD4C73-D133-4951-9688-797F3FB850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11754" y="7922690"/>
            <a:ext cx="324167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Как принято считать, базовые сценарии, это принято считать</a:t>
            </a:r>
          </a:p>
        </p:txBody>
      </p:sp>
    </p:spTree>
    <p:extLst>
      <p:ext uri="{BB962C8B-B14F-4D97-AF65-F5344CB8AC3E}">
        <p14:creationId xmlns:p14="http://schemas.microsoft.com/office/powerpoint/2010/main" val="28272492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B9004BDE-5AB0-41C7-898A-865025EA3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7365" y="714375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DDE9C28-7A4A-45EF-83C0-8AF8874507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7365" y="5391151"/>
            <a:ext cx="8068310" cy="4181475"/>
          </a:xfrm>
          <a:prstGeom prst="roundRect">
            <a:avLst>
              <a:gd name="adj" fmla="val 763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91BDD12-8A29-4433-AA22-FBCC570F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365368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F1E401-C77C-4810-B7D4-4F477EE0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7296"/>
            <a:ext cx="8248650" cy="683108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989A4D09-0D0B-4BBA-A63F-4D6FE63F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8429627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14">
            <a:extLst>
              <a:ext uri="{FF2B5EF4-FFF2-40B4-BE49-F238E27FC236}">
                <a16:creationId xmlns:a16="http://schemas.microsoft.com/office/drawing/2014/main" id="{29570EF1-E2AF-468D-BDAC-EF12E546C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825" y="714375"/>
            <a:ext cx="8343900" cy="8343900"/>
          </a:xfrm>
          <a:prstGeom prst="roundRect">
            <a:avLst>
              <a:gd name="adj" fmla="val 5708"/>
            </a:avLst>
          </a:prstGeom>
          <a:effectLst>
            <a:softEdge rad="38100"/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CF6C7EEE-9388-4E35-B61B-CE5512AA87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71" y="1901242"/>
            <a:ext cx="7651750" cy="6286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А также тщательные. Как принято считать, базовые сценарии поведения пользователей объединены, базовые сценарии поведения</a:t>
            </a:r>
            <a:r>
              <a:rPr lang="en-US" dirty="0"/>
              <a:t>. </a:t>
            </a:r>
            <a:r>
              <a:rPr lang="ru-RU" dirty="0"/>
              <a:t>Как принято считать, базовые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2449300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E77920-5553-41DF-A238-E87A98C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5379550"/>
            <a:ext cx="8248650" cy="316131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CCB7BB7-391E-47AE-8991-9842573CC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5371161"/>
            <a:ext cx="8248650" cy="31613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139C1A8-3719-4691-9436-125B73266C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706154"/>
            <a:ext cx="8248650" cy="318130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627604-B8B7-41F2-A43C-684CE5C59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4543"/>
            <a:ext cx="8248650" cy="3181305"/>
          </a:xfrm>
          <a:prstGeom prst="rect">
            <a:avLst/>
          </a:prstGeom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064269B4-F01D-47B4-BBE1-43185228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B44AC1-9ED8-4B9F-80FC-C4F0787B3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1898650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B48403A2-66F0-42C7-90F4-74CD82B48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2499" y="5570352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92EE5EF8-85FA-4142-B807-2DECBF279C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61003" y="1902786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34225329-4AF6-4D79-8BC3-F072C35D1F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1002" y="5574488"/>
            <a:ext cx="7540625" cy="2765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925695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C96222-B27A-4526-ADB4-9E0DE8AFA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771" y="5351972"/>
            <a:ext cx="8251735" cy="31896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81A58A-5C43-4F65-96B4-D3E0FA4BA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071" y="5571635"/>
            <a:ext cx="548896" cy="5488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3DDBCB-D96C-43D1-9681-C20B02C4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5894" y="5361759"/>
            <a:ext cx="8251735" cy="31896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9D7F3D-3C4D-4EFB-9C7E-EFEE159D8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194" y="5581422"/>
            <a:ext cx="548896" cy="548896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9554D433-DDAD-4E3C-AF17-4A68870CF0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486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539DEC1D-798B-4A6E-B2BD-877257F156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3290" y="6249861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EE72-9F3B-4837-8AE2-E27661425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3" y="1701359"/>
            <a:ext cx="8251735" cy="31896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D9168B-18D8-433A-88FD-D292387D44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73" y="1921022"/>
            <a:ext cx="548896" cy="5488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C573A1-025B-4A9E-A728-B9ED9415ED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496" y="1711146"/>
            <a:ext cx="8251735" cy="31896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91DCC3-16E6-48C0-879B-49F3B5E2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0796" y="1930809"/>
            <a:ext cx="548896" cy="548896"/>
          </a:xfrm>
          <a:prstGeom prst="rect">
            <a:avLst/>
          </a:prstGeom>
        </p:spPr>
      </p:pic>
      <p:sp>
        <p:nvSpPr>
          <p:cNvPr id="13" name="Заголовок 9">
            <a:extLst>
              <a:ext uri="{FF2B5EF4-FFF2-40B4-BE49-F238E27FC236}">
                <a16:creationId xmlns:a16="http://schemas.microsoft.com/office/drawing/2014/main" id="{F1996EEA-2F50-4E7E-A598-14D40829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F0A52D20-1FF5-40BF-A87F-5C94CC9F9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4088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6F6FB69F-B829-4A58-BD20-CC6BA7CDF2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61892" y="2599248"/>
            <a:ext cx="7496175" cy="2048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в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целые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кластеры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себе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подобных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.</a:t>
            </a:r>
            <a:endParaRPr lang="en-US" sz="3200" dirty="0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9795EF7A-A07A-48B4-86E6-E71A2504B8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49" y="1960519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97BC6B3-FC47-48CC-B824-37C61B87C4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5689" y="1967243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39C302A0-045D-4C2C-84A1-2088DC789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136" y="5611132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C2DCA31-23DF-410C-8835-4C3DCFF81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5476" y="5617856"/>
            <a:ext cx="518742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554507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9">
            <a:extLst>
              <a:ext uri="{FF2B5EF4-FFF2-40B4-BE49-F238E27FC236}">
                <a16:creationId xmlns:a16="http://schemas.microsoft.com/office/drawing/2014/main" id="{DA930211-4C47-4976-9733-0C7F4233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59252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8095F4F-6706-4261-9B9B-34DF33BC8B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375" y="1706563"/>
            <a:ext cx="5295900" cy="6942137"/>
          </a:xfrm>
          <a:prstGeom prst="roundRect">
            <a:avLst>
              <a:gd name="adj" fmla="val 7163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7869DB9-C9ED-4C8F-BDA8-D83F423E0F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5794" y="1707961"/>
            <a:ext cx="5295900" cy="6942137"/>
          </a:xfrm>
          <a:prstGeom prst="roundRect">
            <a:avLst>
              <a:gd name="adj" fmla="val 668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94C9F84C-A08B-4467-92EE-9C5D6A593A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5815" y="1707961"/>
            <a:ext cx="5295900" cy="6942137"/>
          </a:xfrm>
          <a:prstGeom prst="roundRect">
            <a:avLst>
              <a:gd name="adj" fmla="val 6371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756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EE5D3E-9661-41A8-A3A8-5721EC30CE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712" y="1710311"/>
            <a:ext cx="5362575" cy="31068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8FC2827-B954-400A-85AD-032031E31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35585" y="1710311"/>
            <a:ext cx="5362575" cy="31068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69A7C12-4402-4A23-9A3F-1079CC7BB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0" y="1710311"/>
            <a:ext cx="5362575" cy="31068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FE2FB22-C7CD-441E-BBE3-63CD43D11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5721" y="5428036"/>
            <a:ext cx="5362575" cy="310682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255BCD-FFA3-495B-9FDF-D9DFC163A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8594" y="5428036"/>
            <a:ext cx="5362575" cy="31068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C3D7699-65D2-4E81-8115-A99670667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849" y="5428036"/>
            <a:ext cx="5362575" cy="3106825"/>
          </a:xfrm>
          <a:prstGeom prst="rect">
            <a:avLst/>
          </a:prstGeom>
        </p:spPr>
      </p:pic>
      <p:sp>
        <p:nvSpPr>
          <p:cNvPr id="22" name="Заголовок 9">
            <a:extLst>
              <a:ext uri="{FF2B5EF4-FFF2-40B4-BE49-F238E27FC236}">
                <a16:creationId xmlns:a16="http://schemas.microsoft.com/office/drawing/2014/main" id="{F1EB3E9B-2C2F-463E-9ECD-4371341B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8">
            <a:extLst>
              <a:ext uri="{FF2B5EF4-FFF2-40B4-BE49-F238E27FC236}">
                <a16:creationId xmlns:a16="http://schemas.microsoft.com/office/drawing/2014/main" id="{913FF8BD-21CB-422A-A53B-F46082815F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191135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EAAB1F94-4C56-4D4A-BEE4-D4213FB1A6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323" y="562907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CBD7DA99-CB87-499F-B1CF-724105FC13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4955" y="1912748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6" name="Текст 18">
            <a:extLst>
              <a:ext uri="{FF2B5EF4-FFF2-40B4-BE49-F238E27FC236}">
                <a16:creationId xmlns:a16="http://schemas.microsoft.com/office/drawing/2014/main" id="{FDC4BA0B-8AB8-474D-81B4-BE34F46CF5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4742" y="5630473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94F7D51C-421B-42BA-B9FA-A086557223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33152" y="1922535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  <p:sp>
        <p:nvSpPr>
          <p:cNvPr id="28" name="Текст 18">
            <a:extLst>
              <a:ext uri="{FF2B5EF4-FFF2-40B4-BE49-F238E27FC236}">
                <a16:creationId xmlns:a16="http://schemas.microsoft.com/office/drawing/2014/main" id="{10596899-4712-47DF-B488-F76DDEFBE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42939" y="5640260"/>
            <a:ext cx="4810677" cy="255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объединены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377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D2C0679-AA83-479D-9878-9F703D7C61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1052" y="5417206"/>
            <a:ext cx="5377730" cy="3106825"/>
          </a:xfrm>
          <a:prstGeom prst="rect">
            <a:avLst/>
          </a:prstGeom>
        </p:spPr>
      </p:pic>
      <p:sp>
        <p:nvSpPr>
          <p:cNvPr id="48" name="Текст 18">
            <a:extLst>
              <a:ext uri="{FF2B5EF4-FFF2-40B4-BE49-F238E27FC236}">
                <a16:creationId xmlns:a16="http://schemas.microsoft.com/office/drawing/2014/main" id="{2C40B25F-52B8-4318-84C2-21208C93DB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14792" y="6225233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600217A-5235-4DB6-8120-A64583884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08258" y="5541948"/>
            <a:ext cx="548896" cy="548896"/>
          </a:xfrm>
          <a:prstGeom prst="rect">
            <a:avLst/>
          </a:prstGeom>
        </p:spPr>
      </p:pic>
      <p:sp>
        <p:nvSpPr>
          <p:cNvPr id="50" name="Текст 8">
            <a:extLst>
              <a:ext uri="{FF2B5EF4-FFF2-40B4-BE49-F238E27FC236}">
                <a16:creationId xmlns:a16="http://schemas.microsoft.com/office/drawing/2014/main" id="{61A671A5-D2D2-44A7-B146-75A1C8426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567934" y="5581445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C4DF40E-F8FF-4DEE-8478-1F6EDFD924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68022" y="5415808"/>
            <a:ext cx="5377730" cy="3106825"/>
          </a:xfrm>
          <a:prstGeom prst="rect">
            <a:avLst/>
          </a:prstGeom>
        </p:spPr>
      </p:pic>
      <p:sp>
        <p:nvSpPr>
          <p:cNvPr id="52" name="Текст 18">
            <a:extLst>
              <a:ext uri="{FF2B5EF4-FFF2-40B4-BE49-F238E27FC236}">
                <a16:creationId xmlns:a16="http://schemas.microsoft.com/office/drawing/2014/main" id="{D2E757A6-CCEB-4DD5-87C1-46A6DDDBCC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41762" y="6223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8721A02-9FC0-4A1E-A6A4-1DE3C510A4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5228" y="5540550"/>
            <a:ext cx="548896" cy="548896"/>
          </a:xfrm>
          <a:prstGeom prst="rect">
            <a:avLst/>
          </a:prstGeom>
        </p:spPr>
      </p:pic>
      <p:sp>
        <p:nvSpPr>
          <p:cNvPr id="54" name="Текст 8">
            <a:extLst>
              <a:ext uri="{FF2B5EF4-FFF2-40B4-BE49-F238E27FC236}">
                <a16:creationId xmlns:a16="http://schemas.microsoft.com/office/drawing/2014/main" id="{9F007721-20DB-4F20-B8FB-7FAAF87992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94904" y="5580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B5D9A9D-380F-45C9-B2D4-1959495CF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05" y="5413808"/>
            <a:ext cx="5377730" cy="3106825"/>
          </a:xfrm>
          <a:prstGeom prst="rect">
            <a:avLst/>
          </a:prstGeom>
        </p:spPr>
      </p:pic>
      <p:sp>
        <p:nvSpPr>
          <p:cNvPr id="56" name="Текст 18">
            <a:extLst>
              <a:ext uri="{FF2B5EF4-FFF2-40B4-BE49-F238E27FC236}">
                <a16:creationId xmlns:a16="http://schemas.microsoft.com/office/drawing/2014/main" id="{B29CC027-DD46-4E95-AA1B-A958A6DD25D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6545" y="6221835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CC557D2-0425-4D50-9A45-542F0E459D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11" y="5538550"/>
            <a:ext cx="548896" cy="548896"/>
          </a:xfrm>
          <a:prstGeom prst="rect">
            <a:avLst/>
          </a:prstGeom>
        </p:spPr>
      </p:pic>
      <p:sp>
        <p:nvSpPr>
          <p:cNvPr id="58" name="Текст 8">
            <a:extLst>
              <a:ext uri="{FF2B5EF4-FFF2-40B4-BE49-F238E27FC236}">
                <a16:creationId xmlns:a16="http://schemas.microsoft.com/office/drawing/2014/main" id="{31437541-F76D-48C5-9FB0-F599F2DB74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9687" y="5578047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4173BA-9B0A-49A3-8033-C18AF69AF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48043" y="1707870"/>
            <a:ext cx="5377730" cy="3106825"/>
          </a:xfrm>
          <a:prstGeom prst="rect">
            <a:avLst/>
          </a:prstGeom>
        </p:spPr>
      </p:pic>
      <p:sp>
        <p:nvSpPr>
          <p:cNvPr id="44" name="Текст 18">
            <a:extLst>
              <a:ext uri="{FF2B5EF4-FFF2-40B4-BE49-F238E27FC236}">
                <a16:creationId xmlns:a16="http://schemas.microsoft.com/office/drawing/2014/main" id="{34E41860-AC05-4159-87F7-FB327F60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1783" y="2515897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A6E0D6D-FA6D-49D7-9359-0FCDBD709D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15249" y="1832612"/>
            <a:ext cx="548896" cy="548896"/>
          </a:xfrm>
          <a:prstGeom prst="rect">
            <a:avLst/>
          </a:prstGeom>
        </p:spPr>
      </p:pic>
      <p:sp>
        <p:nvSpPr>
          <p:cNvPr id="46" name="Текст 8">
            <a:extLst>
              <a:ext uri="{FF2B5EF4-FFF2-40B4-BE49-F238E27FC236}">
                <a16:creationId xmlns:a16="http://schemas.microsoft.com/office/drawing/2014/main" id="{95B792F6-05A8-4439-A043-F0ED1485BF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4925" y="1872109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50CDFA5-A508-46DD-84A0-9E7184D35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75013" y="1706472"/>
            <a:ext cx="5377730" cy="3106825"/>
          </a:xfrm>
          <a:prstGeom prst="rect">
            <a:avLst/>
          </a:prstGeom>
        </p:spPr>
      </p:pic>
      <p:sp>
        <p:nvSpPr>
          <p:cNvPr id="40" name="Текст 18">
            <a:extLst>
              <a:ext uri="{FF2B5EF4-FFF2-40B4-BE49-F238E27FC236}">
                <a16:creationId xmlns:a16="http://schemas.microsoft.com/office/drawing/2014/main" id="{F5076943-EAE8-42F6-9DEC-25C02FB21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8753" y="2514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0884432-ACFD-48D1-97A7-BE5B209243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2219" y="1831214"/>
            <a:ext cx="548896" cy="548896"/>
          </a:xfrm>
          <a:prstGeom prst="rect">
            <a:avLst/>
          </a:prstGeom>
        </p:spPr>
      </p:pic>
      <p:sp>
        <p:nvSpPr>
          <p:cNvPr id="42" name="Текст 8">
            <a:extLst>
              <a:ext uri="{FF2B5EF4-FFF2-40B4-BE49-F238E27FC236}">
                <a16:creationId xmlns:a16="http://schemas.microsoft.com/office/drawing/2014/main" id="{143ED22F-3960-451D-A56D-78F563819E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1895" y="1870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B043712-CE71-4447-A525-AF8043EE6F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796" y="1704472"/>
            <a:ext cx="5377730" cy="3106825"/>
          </a:xfrm>
          <a:prstGeom prst="rect">
            <a:avLst/>
          </a:prstGeom>
        </p:spPr>
      </p:pic>
      <p:sp>
        <p:nvSpPr>
          <p:cNvPr id="9" name="Заголовок 9">
            <a:extLst>
              <a:ext uri="{FF2B5EF4-FFF2-40B4-BE49-F238E27FC236}">
                <a16:creationId xmlns:a16="http://schemas.microsoft.com/office/drawing/2014/main" id="{363F7F92-8179-4121-ACB3-1BA0E29B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0816003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999DC7E5-2175-4A67-AC6E-A3DEF61628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3536" y="2512499"/>
            <a:ext cx="4810677" cy="1949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Как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принято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считать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базовые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сценарии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поведения</a:t>
            </a:r>
            <a:r>
              <a:rPr lang="en-US" sz="3200" dirty="0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пользователей</a:t>
            </a:r>
            <a:endParaRPr lang="en-US" sz="32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7B5D8E6-0850-4095-B357-95EF885B9C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002" y="1829214"/>
            <a:ext cx="548896" cy="548896"/>
          </a:xfrm>
          <a:prstGeom prst="rect">
            <a:avLst/>
          </a:prstGeom>
        </p:spPr>
      </p:pic>
      <p:sp>
        <p:nvSpPr>
          <p:cNvPr id="38" name="Текст 8">
            <a:extLst>
              <a:ext uri="{FF2B5EF4-FFF2-40B4-BE49-F238E27FC236}">
                <a16:creationId xmlns:a16="http://schemas.microsoft.com/office/drawing/2014/main" id="{FEBD38B3-BB5E-41AE-842C-9CA920D03F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6678" y="1868711"/>
            <a:ext cx="489220" cy="456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800" dirty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pPr lvl="0"/>
            <a:r>
              <a:rPr lang="ru-RU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065839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BF2D6C-21C8-4779-9D23-0CCC7DA72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0436"/>
            <a:ext cx="16859250" cy="6821168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3CD9750-E38B-40F9-BCCF-E277A925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704473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B591B-8AE6-44FB-8A0B-4754931A3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4977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DED45-0E7C-4024-BBA9-F4238C3678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684282"/>
            <a:ext cx="8248650" cy="685174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088A9DE-30EA-4AF8-9C10-8233BD4F1C7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69147014"/>
              </p:ext>
            </p:extLst>
          </p:nvPr>
        </p:nvGraphicFramePr>
        <p:xfrm>
          <a:off x="9656617" y="1982459"/>
          <a:ext cx="7582767" cy="503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E424C389-D0FF-492A-96C1-B2928E16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F6F77912-0A12-422E-B9D9-BD7DA43F9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00" y="1898649"/>
            <a:ext cx="7540625" cy="64400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latin typeface="Nunito SemiBold" pitchFamily="2" charset="-52"/>
              </a:defRPr>
            </a:lvl1pPr>
          </a:lstStyle>
          <a:p>
            <a:pPr lvl="0"/>
            <a:r>
              <a:rPr lang="ru-RU" dirty="0"/>
              <a:t>Как принято считать, базовые сценарии поведения пользователей объединены в целые кластеры себе подобных. Как принято считать, базовые сценарии поведения пользователей объединены в целые кластеры себе подобных. Как принято считать, базовые.</a:t>
            </a:r>
          </a:p>
        </p:txBody>
      </p:sp>
    </p:spTree>
    <p:extLst>
      <p:ext uri="{BB962C8B-B14F-4D97-AF65-F5344CB8AC3E}">
        <p14:creationId xmlns:p14="http://schemas.microsoft.com/office/powerpoint/2010/main" val="11424577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0055146-E285-4C46-8686-22A2CEF44A3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61536202"/>
              </p:ext>
            </p:extLst>
          </p:nvPr>
        </p:nvGraphicFramePr>
        <p:xfrm>
          <a:off x="1286957" y="2595484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A9B15FE-EF69-4190-B986-800ACC54C7D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91413391"/>
              </p:ext>
            </p:extLst>
          </p:nvPr>
        </p:nvGraphicFramePr>
        <p:xfrm>
          <a:off x="9504220" y="2595483"/>
          <a:ext cx="7496825" cy="507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410861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яя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CD07D2-2F3D-4A68-BF14-E2ED3D1518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" y="1711354"/>
            <a:ext cx="16859250" cy="6820250"/>
          </a:xfrm>
          <a:prstGeom prst="rect">
            <a:avLst/>
          </a:prstGeom>
          <a:effectLst>
            <a:outerShdw blurRad="3175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Заголовок 9">
            <a:extLst>
              <a:ext uri="{FF2B5EF4-FFF2-40B4-BE49-F238E27FC236}">
                <a16:creationId xmlns:a16="http://schemas.microsoft.com/office/drawing/2014/main" id="{0B3E83EA-EE3B-47EC-B47D-05316F7D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6876796" cy="878178"/>
          </a:xfrm>
          <a:prstGeom prst="rect">
            <a:avLst/>
          </a:prstGeom>
        </p:spPr>
        <p:txBody>
          <a:bodyPr/>
          <a:lstStyle>
            <a:lvl1pPr algn="l">
              <a:defRPr sz="5400" b="0">
                <a:solidFill>
                  <a:schemeClr val="bg1"/>
                </a:solidFill>
                <a:latin typeface="Nunito Bold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9DCF176-54FA-40BF-B506-83E738C7AED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1752419"/>
              </p:ext>
            </p:extLst>
          </p:nvPr>
        </p:nvGraphicFramePr>
        <p:xfrm>
          <a:off x="1074261" y="2071299"/>
          <a:ext cx="16157020" cy="605763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615702">
                  <a:extLst>
                    <a:ext uri="{9D8B030D-6E8A-4147-A177-3AD203B41FA5}">
                      <a16:colId xmlns:a16="http://schemas.microsoft.com/office/drawing/2014/main" val="3110552859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230449320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86321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71225815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097600003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4026847932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388581828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567442515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13680074"/>
                    </a:ext>
                  </a:extLst>
                </a:gridCol>
                <a:gridCol w="1615702">
                  <a:extLst>
                    <a:ext uri="{9D8B030D-6E8A-4147-A177-3AD203B41FA5}">
                      <a16:colId xmlns:a16="http://schemas.microsoft.com/office/drawing/2014/main" val="969290082"/>
                    </a:ext>
                  </a:extLst>
                </a:gridCol>
              </a:tblGrid>
              <a:tr h="751124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Nunito Bold" pitchFamily="2" charset="-52"/>
                        </a:rPr>
                        <a:t>Таблица</a:t>
                      </a:r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solidFill>
                      <a:srgbClr val="286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041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468371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079977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654218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837535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3167209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5114594"/>
                  </a:ext>
                </a:extLst>
              </a:tr>
              <a:tr h="758073"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121177" marR="121177" marT="60589" marB="605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 marL="121177" marR="121177" marT="60589" marB="60589">
                    <a:lnL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6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lack_pixel_logoFTC.png" descr="preencoded.png">
            <a:extLst>
              <a:ext uri="{FF2B5EF4-FFF2-40B4-BE49-F238E27FC236}">
                <a16:creationId xmlns:a16="http://schemas.microsoft.com/office/drawing/2014/main" id="{F8003204-777B-4328-9815-7FBE9F94C356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49" r:id="rId3"/>
    <p:sldLayoutId id="2147483664" r:id="rId4"/>
    <p:sldLayoutId id="2147483666" r:id="rId5"/>
    <p:sldLayoutId id="2147483668" r:id="rId6"/>
    <p:sldLayoutId id="2147483670" r:id="rId7"/>
    <p:sldLayoutId id="2147483672" r:id="rId8"/>
    <p:sldLayoutId id="2147483674" r:id="rId9"/>
    <p:sldLayoutId id="2147483676" r:id="rId10"/>
    <p:sldLayoutId id="2147483678" r:id="rId11"/>
    <p:sldLayoutId id="2147483680" r:id="rId12"/>
    <p:sldLayoutId id="2147483682" r:id="rId13"/>
    <p:sldLayoutId id="2147483684" r:id="rId14"/>
    <p:sldLayoutId id="2147483686" r:id="rId15"/>
    <p:sldLayoutId id="2147483688" r:id="rId16"/>
    <p:sldLayoutId id="2147483690" r:id="rId17"/>
    <p:sldLayoutId id="2147483692" r:id="rId18"/>
    <p:sldLayoutId id="2147483695" r:id="rId19"/>
    <p:sldLayoutId id="2147483697" r:id="rId20"/>
    <p:sldLayoutId id="2147483699" r:id="rId21"/>
    <p:sldLayoutId id="2147483701" r:id="rId22"/>
    <p:sldLayoutId id="2147483703" r:id="rId23"/>
    <p:sldLayoutId id="2147483706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86FE5"/>
            </a:gs>
            <a:gs pos="0">
              <a:srgbClr val="3E719B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ite_pixel_logoFTC.png" descr="preencoded.png">
            <a:extLst>
              <a:ext uri="{FF2B5EF4-FFF2-40B4-BE49-F238E27FC236}">
                <a16:creationId xmlns:a16="http://schemas.microsoft.com/office/drawing/2014/main" id="{AFFDA096-83E8-41E4-AD5D-359F28218737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3" r:id="rId3"/>
    <p:sldLayoutId id="2147483651" r:id="rId4"/>
    <p:sldLayoutId id="2147483665" r:id="rId5"/>
    <p:sldLayoutId id="2147483667" r:id="rId6"/>
    <p:sldLayoutId id="2147483669" r:id="rId7"/>
    <p:sldLayoutId id="2147483671" r:id="rId8"/>
    <p:sldLayoutId id="2147483673" r:id="rId9"/>
    <p:sldLayoutId id="2147483675" r:id="rId10"/>
    <p:sldLayoutId id="2147483677" r:id="rId11"/>
    <p:sldLayoutId id="2147483679" r:id="rId12"/>
    <p:sldLayoutId id="2147483681" r:id="rId13"/>
    <p:sldLayoutId id="2147483683" r:id="rId14"/>
    <p:sldLayoutId id="2147483685" r:id="rId15"/>
    <p:sldLayoutId id="2147483687" r:id="rId16"/>
    <p:sldLayoutId id="2147483689" r:id="rId17"/>
    <p:sldLayoutId id="2147483691" r:id="rId18"/>
    <p:sldLayoutId id="2147483693" r:id="rId19"/>
    <p:sldLayoutId id="2147483696" r:id="rId20"/>
    <p:sldLayoutId id="2147483698" r:id="rId21"/>
    <p:sldLayoutId id="2147483700" r:id="rId22"/>
    <p:sldLayoutId id="2147483702" r:id="rId23"/>
    <p:sldLayoutId id="2147483704" r:id="rId24"/>
    <p:sldLayoutId id="2147483705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0D595DD6-A0CF-4D25-91D5-32C53C1BD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0204" y="3238500"/>
            <a:ext cx="9209913" cy="1351788"/>
          </a:xfrm>
        </p:spPr>
        <p:txBody>
          <a:bodyPr/>
          <a:lstStyle/>
          <a:p>
            <a:r>
              <a:rPr lang="ru-RU" sz="3200" dirty="0"/>
              <a:t>Тема: «Разработка ПО для служб поддержки с использованием ИИ как ассистента»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6B001-6B53-420A-88C2-785766438B41}"/>
              </a:ext>
            </a:extLst>
          </p:cNvPr>
          <p:cNvSpPr txBox="1"/>
          <p:nvPr/>
        </p:nvSpPr>
        <p:spPr>
          <a:xfrm>
            <a:off x="540204" y="6744971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Nunito" pitchFamily="2" charset="-52"/>
              </a:rPr>
              <a:t>Студент: Бухаров Егор Константинович</a:t>
            </a:r>
          </a:p>
          <a:p>
            <a:r>
              <a:rPr lang="ru-RU" sz="2400" dirty="0">
                <a:solidFill>
                  <a:schemeClr val="bg1"/>
                </a:solidFill>
                <a:latin typeface="Nunito" pitchFamily="2" charset="-52"/>
              </a:rPr>
              <a:t>Группа ИСП-21</a:t>
            </a:r>
          </a:p>
          <a:p>
            <a:endParaRPr lang="ru-RU" sz="2400" dirty="0">
              <a:solidFill>
                <a:schemeClr val="bg1"/>
              </a:solidFill>
              <a:latin typeface="Nunito" pitchFamily="2" charset="-52"/>
            </a:endParaRPr>
          </a:p>
          <a:p>
            <a:r>
              <a:rPr lang="ru-RU" sz="2400" dirty="0">
                <a:solidFill>
                  <a:schemeClr val="bg1"/>
                </a:solidFill>
                <a:latin typeface="Nunito" pitchFamily="2" charset="-52"/>
              </a:rPr>
              <a:t>Руководитель ДП: Коновалов Игорь Васильевич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DAF45-F5D0-44D9-B1DF-80858F2B180F}"/>
              </a:ext>
            </a:extLst>
          </p:cNvPr>
          <p:cNvSpPr txBox="1"/>
          <p:nvPr/>
        </p:nvSpPr>
        <p:spPr>
          <a:xfrm>
            <a:off x="3960845" y="343612"/>
            <a:ext cx="1036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Nunito Bold" pitchFamily="2" charset="-52"/>
                <a:ea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</a:t>
            </a:r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Nunito Bold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F9CFA-78EE-42E6-9F1D-C4B5709FBD28}"/>
              </a:ext>
            </a:extLst>
          </p:cNvPr>
          <p:cNvSpPr txBox="1"/>
          <p:nvPr/>
        </p:nvSpPr>
        <p:spPr>
          <a:xfrm>
            <a:off x="7767735" y="9386595"/>
            <a:ext cx="275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Nunito Bold" pitchFamily="2" charset="-52"/>
              </a:rPr>
              <a:t>Долгопрудный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801D5A-7921-4EBD-AD4F-0EA68BFE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976454F-208B-402E-A996-68C9CE79D8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Целью работы является разработать чат-бота ВКонтакте для службы поддержки, где ИИ-ассистент ведёт диалог, использует RAG для поиска по документации и передаёт диалог оператору при снижении уверенности.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97C418-0306-F9E8-8544-059EA9416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9891" y="8191183"/>
            <a:ext cx="2857500" cy="6191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0D0E6D-9552-4291-BFC1-15263BC09767}"/>
              </a:ext>
            </a:extLst>
          </p:cNvPr>
          <p:cNvSpPr txBox="1"/>
          <p:nvPr/>
        </p:nvSpPr>
        <p:spPr>
          <a:xfrm>
            <a:off x="8005295" y="7196328"/>
            <a:ext cx="888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😎</a:t>
            </a:r>
            <a:endParaRPr lang="ru-RU" sz="4000" dirty="0"/>
          </a:p>
        </p:txBody>
      </p:sp>
      <p:pic>
        <p:nvPicPr>
          <p:cNvPr id="1026" name="Picture 2" descr="VK (компания) — Википедия">
            <a:extLst>
              <a:ext uri="{FF2B5EF4-FFF2-40B4-BE49-F238E27FC236}">
                <a16:creationId xmlns:a16="http://schemas.microsoft.com/office/drawing/2014/main" id="{23E6E8E2-82E1-413B-9B48-6D93139E4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368" y="1860804"/>
            <a:ext cx="2345436" cy="23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Design Robot Head Logo Robot: стоковая векторная графика (без  лицензионных платежей), 2575751581 | Shutterstock">
            <a:extLst>
              <a:ext uri="{FF2B5EF4-FFF2-40B4-BE49-F238E27FC236}">
                <a16:creationId xmlns:a16="http://schemas.microsoft.com/office/drawing/2014/main" id="{2B9FCAAF-D072-4E03-842C-E88D2048EF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40"/>
          <a:stretch/>
        </p:blipFill>
        <p:spPr bwMode="auto">
          <a:xfrm>
            <a:off x="9789414" y="5558778"/>
            <a:ext cx="2476500" cy="23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7CF07198-BA91-4AC9-85CA-51BD9FF24D63}"/>
              </a:ext>
            </a:extLst>
          </p:cNvPr>
          <p:cNvCxnSpPr>
            <a:cxnSpLocks/>
          </p:cNvCxnSpPr>
          <p:nvPr/>
        </p:nvCxnSpPr>
        <p:spPr>
          <a:xfrm flipV="1">
            <a:off x="11027664" y="3033522"/>
            <a:ext cx="3246120" cy="3111246"/>
          </a:xfrm>
          <a:prstGeom prst="bentConnector3">
            <a:avLst>
              <a:gd name="adj1" fmla="val 423"/>
            </a:avLst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4">
            <a:extLst>
              <a:ext uri="{FF2B5EF4-FFF2-40B4-BE49-F238E27FC236}">
                <a16:creationId xmlns:a16="http://schemas.microsoft.com/office/drawing/2014/main" id="{DB6E8EBF-4450-4A9A-BD52-D98410A9AF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76888" y="4297680"/>
            <a:ext cx="3870198" cy="2505456"/>
          </a:xfrm>
          <a:prstGeom prst="bentConnector3">
            <a:avLst>
              <a:gd name="adj1" fmla="val -325"/>
            </a:avLst>
          </a:prstGeom>
          <a:ln w="381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0640E-F1AD-43DC-A277-3CA77DDD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D3EB12-6682-44BA-945D-34C7054C82F4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1047750" y="2163763"/>
            <a:ext cx="16167100" cy="590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Задачи, поставленные для выполнения цели:</a:t>
            </a:r>
          </a:p>
          <a:p>
            <a:endParaRPr lang="ru-RU" dirty="0"/>
          </a:p>
          <a:p>
            <a:pPr marL="457200" indent="-457200">
              <a:buAutoNum type="arabicPeriod"/>
            </a:pPr>
            <a:r>
              <a:rPr lang="ru-RU" dirty="0"/>
              <a:t>Проанализировать предметную область и существующие решения.</a:t>
            </a:r>
          </a:p>
          <a:p>
            <a:pPr marL="457200" indent="-457200">
              <a:buFontTx/>
              <a:buAutoNum type="arabicPeriod"/>
            </a:pPr>
            <a:r>
              <a:rPr lang="ru-RU" dirty="0"/>
              <a:t>Выбрать методы: LLM (</a:t>
            </a:r>
            <a:r>
              <a:rPr lang="ru-RU" dirty="0" err="1"/>
              <a:t>GigaChat</a:t>
            </a:r>
            <a:r>
              <a:rPr lang="ru-RU" dirty="0"/>
              <a:t>), RAG, механизм эскалации через JSON.</a:t>
            </a:r>
          </a:p>
          <a:p>
            <a:pPr marL="457200" indent="-457200">
              <a:buAutoNum type="arabicPeriod"/>
            </a:pPr>
            <a:r>
              <a:rPr lang="ru-RU" dirty="0"/>
              <a:t>Спроектировать модульную архитектуру.</a:t>
            </a:r>
          </a:p>
          <a:p>
            <a:pPr marL="457200" indent="-457200">
              <a:buFontTx/>
              <a:buAutoNum type="arabicPeriod"/>
            </a:pPr>
            <a:r>
              <a:rPr lang="ru-RU" dirty="0"/>
              <a:t>Реализовать чат-бота с интеграцией </a:t>
            </a:r>
            <a:r>
              <a:rPr lang="ru-RU" dirty="0" err="1"/>
              <a:t>GigaChat</a:t>
            </a:r>
            <a:r>
              <a:rPr lang="ru-RU" dirty="0"/>
              <a:t>, векторной БД </a:t>
            </a:r>
            <a:r>
              <a:rPr lang="ru-RU" dirty="0" err="1"/>
              <a:t>Chroma</a:t>
            </a:r>
            <a:r>
              <a:rPr lang="ru-RU" dirty="0"/>
              <a:t> и механизмом эскалации.</a:t>
            </a:r>
          </a:p>
          <a:p>
            <a:pPr marL="457200" indent="-457200">
              <a:buAutoNum type="arabicPeriod"/>
            </a:pPr>
            <a:r>
              <a:rPr lang="ru-RU" dirty="0"/>
              <a:t>Провести тестирование и оценить эффективность.</a:t>
            </a:r>
          </a:p>
        </p:txBody>
      </p:sp>
    </p:spTree>
    <p:extLst>
      <p:ext uri="{BB962C8B-B14F-4D97-AF65-F5344CB8AC3E}">
        <p14:creationId xmlns:p14="http://schemas.microsoft.com/office/powerpoint/2010/main" val="301467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703E6-19B6-432B-978B-4B26A55B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Логическая структура и архитектура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C8E7DC-7D3A-4759-A75B-E681A7FDAB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7749" y="2640774"/>
            <a:ext cx="7505700" cy="5005451"/>
          </a:xfrm>
        </p:spPr>
        <p:txBody>
          <a:bodyPr/>
          <a:lstStyle/>
          <a:p>
            <a:r>
              <a:rPr lang="ru-RU" dirty="0"/>
              <a:t>Архитектура состоит из:</a:t>
            </a:r>
            <a:endParaRPr lang="en-US" dirty="0"/>
          </a:p>
          <a:p>
            <a:endParaRPr lang="ru-RU" dirty="0"/>
          </a:p>
          <a:p>
            <a:r>
              <a:rPr lang="ru-RU" sz="2800" dirty="0"/>
              <a:t>Транспортный слой</a:t>
            </a:r>
            <a:r>
              <a:rPr lang="en-US" sz="2800" dirty="0"/>
              <a:t>: VK Bot API</a:t>
            </a:r>
          </a:p>
          <a:p>
            <a:endParaRPr lang="en-US" sz="2800" dirty="0"/>
          </a:p>
          <a:p>
            <a:r>
              <a:rPr lang="ru-RU" sz="2800" dirty="0"/>
              <a:t>Оркестратор диалога (</a:t>
            </a:r>
            <a:r>
              <a:rPr lang="en-US" sz="2800" dirty="0"/>
              <a:t>Facade)</a:t>
            </a:r>
          </a:p>
          <a:p>
            <a:endParaRPr lang="ru-RU" sz="2800" dirty="0"/>
          </a:p>
          <a:p>
            <a:r>
              <a:rPr lang="ru-RU" sz="2800" dirty="0"/>
              <a:t>Слой интеллекта: </a:t>
            </a:r>
            <a:r>
              <a:rPr lang="en-US" sz="2800" dirty="0"/>
              <a:t>GigaChat+RAG+YOLOv8</a:t>
            </a:r>
          </a:p>
          <a:p>
            <a:endParaRPr lang="en-US" sz="2800" dirty="0"/>
          </a:p>
          <a:p>
            <a:r>
              <a:rPr lang="ru-RU" sz="2800" dirty="0"/>
              <a:t>Память</a:t>
            </a:r>
            <a:r>
              <a:rPr lang="en-US" sz="2800" dirty="0"/>
              <a:t>: </a:t>
            </a:r>
            <a:r>
              <a:rPr lang="en-US" sz="2800" dirty="0" err="1"/>
              <a:t>conversation_history</a:t>
            </a:r>
            <a:endParaRPr lang="ru-RU" sz="2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1243D3-96C2-41DA-9228-0AEDA2BA1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8351" y="2117725"/>
            <a:ext cx="4734305" cy="585788"/>
          </a:xfrm>
        </p:spPr>
        <p:txBody>
          <a:bodyPr/>
          <a:lstStyle/>
          <a:p>
            <a:r>
              <a:rPr lang="ru-RU" sz="3200" dirty="0"/>
              <a:t>Технологический стек</a:t>
            </a:r>
            <a:endParaRPr lang="en-US" sz="3200" dirty="0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C0C6D7F3-6AA6-47F7-90E2-EEF01CA27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939" y="2481070"/>
            <a:ext cx="1642874" cy="164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754858E-E44C-4C8C-89C9-9684D49C9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3" y="6605450"/>
            <a:ext cx="3429000" cy="58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ГигаЧат - Скачать логотип в векторе SVG или PNG без фона">
            <a:extLst>
              <a:ext uri="{FF2B5EF4-FFF2-40B4-BE49-F238E27FC236}">
                <a16:creationId xmlns:a16="http://schemas.microsoft.com/office/drawing/2014/main" id="{835094E7-BC1A-4430-B2CE-9C7253833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043" y="3128611"/>
            <a:ext cx="2477370" cy="76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9C641-DA09-45B4-8655-F0821AB1391C}"/>
              </a:ext>
            </a:extLst>
          </p:cNvPr>
          <p:cNvSpPr txBox="1"/>
          <p:nvPr/>
        </p:nvSpPr>
        <p:spPr>
          <a:xfrm>
            <a:off x="14775939" y="4319025"/>
            <a:ext cx="2173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Python 3.10</a:t>
            </a:r>
            <a:endParaRPr lang="ru-RU" sz="2800" dirty="0"/>
          </a:p>
        </p:txBody>
      </p:sp>
      <p:pic>
        <p:nvPicPr>
          <p:cNvPr id="1034" name="Picture 10" descr="ChromaDB: An Overview. ChromaDB is a powerful vector database… | by VIKRANT  SINGH | Medium">
            <a:extLst>
              <a:ext uri="{FF2B5EF4-FFF2-40B4-BE49-F238E27FC236}">
                <a16:creationId xmlns:a16="http://schemas.microsoft.com/office/drawing/2014/main" id="{F60DF9E2-A000-4F7C-8DCD-8E436F1F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9230" y="4422190"/>
            <a:ext cx="1528645" cy="144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PCwire - Since 1987 – Covering the Fastest Computers in the World and the  People Who Run Them">
            <a:extLst>
              <a:ext uri="{FF2B5EF4-FFF2-40B4-BE49-F238E27FC236}">
                <a16:creationId xmlns:a16="http://schemas.microsoft.com/office/drawing/2014/main" id="{C106F72D-368F-44E3-BB3B-B8A0FB48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6511" y="5607546"/>
            <a:ext cx="2561729" cy="256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3B25F4-BFCB-4302-AA1B-5D577F96ECA7}"/>
              </a:ext>
            </a:extLst>
          </p:cNvPr>
          <p:cNvSpPr/>
          <p:nvPr/>
        </p:nvSpPr>
        <p:spPr>
          <a:xfrm>
            <a:off x="653795" y="1581912"/>
            <a:ext cx="13245085" cy="804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7428D62-9169-4769-9A6B-E2F0D5C6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3" y="344275"/>
            <a:ext cx="13641708" cy="878178"/>
          </a:xfrm>
        </p:spPr>
        <p:txBody>
          <a:bodyPr/>
          <a:lstStyle/>
          <a:p>
            <a:r>
              <a:rPr lang="ru-RU"/>
              <a:t>Реализация и результаты тестирования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BC3FA-67DC-4E2E-81E7-2448850846CC}"/>
              </a:ext>
            </a:extLst>
          </p:cNvPr>
          <p:cNvSpPr txBox="1"/>
          <p:nvPr/>
        </p:nvSpPr>
        <p:spPr>
          <a:xfrm>
            <a:off x="714373" y="1711143"/>
            <a:ext cx="55675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Функциональность:</a:t>
            </a:r>
          </a:p>
          <a:p>
            <a:endParaRPr lang="ru-RU" sz="28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Приём текста, фото (YOLOv8), видео </a:t>
            </a:r>
            <a:r>
              <a:rPr lang="en-US" sz="2800" dirty="0">
                <a:solidFill>
                  <a:schemeClr val="bg1"/>
                </a:solidFill>
                <a:latin typeface="Nunito SemiBold" pitchFamily="2" charset="-52"/>
              </a:rPr>
              <a:t>-&gt; </a:t>
            </a:r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эскалация</a:t>
            </a:r>
          </a:p>
          <a:p>
            <a:endParaRPr lang="ru-RU" sz="32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RAG-поиск по документации</a:t>
            </a:r>
            <a:endParaRPr lang="en-US" sz="2800" dirty="0">
              <a:solidFill>
                <a:schemeClr val="bg1"/>
              </a:solidFill>
              <a:latin typeface="Nunito SemiBold" pitchFamily="2" charset="-52"/>
            </a:endParaRPr>
          </a:p>
          <a:p>
            <a:endParaRPr lang="ru-RU" sz="36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Контекст 5 последних сообщений</a:t>
            </a:r>
          </a:p>
          <a:p>
            <a:endParaRPr lang="ru-RU" sz="28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Эскалация по 4 критериям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B3505-18BB-4519-93BB-D0C910D566B0}"/>
              </a:ext>
            </a:extLst>
          </p:cNvPr>
          <p:cNvSpPr txBox="1"/>
          <p:nvPr/>
        </p:nvSpPr>
        <p:spPr>
          <a:xfrm>
            <a:off x="6281928" y="1711143"/>
            <a:ext cx="490118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Результаты тестирования</a:t>
            </a:r>
            <a:r>
              <a:rPr lang="en-US" sz="2800" dirty="0">
                <a:solidFill>
                  <a:schemeClr val="bg1"/>
                </a:solidFill>
                <a:latin typeface="Nunito SemiBold" pitchFamily="2" charset="-52"/>
              </a:rPr>
              <a:t>:</a:t>
            </a:r>
            <a:endParaRPr lang="ru-RU" sz="2800" dirty="0">
              <a:solidFill>
                <a:schemeClr val="bg1"/>
              </a:solidFill>
              <a:latin typeface="Nunito SemiBold" pitchFamily="2" charset="-52"/>
            </a:endParaRPr>
          </a:p>
          <a:p>
            <a:endParaRPr lang="ru-RU" sz="28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Пройдено 12/12 тест-кейсов</a:t>
            </a:r>
          </a:p>
          <a:p>
            <a:endParaRPr lang="ru-RU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Автономная обработка: 74% (37 из 50 запросов)</a:t>
            </a:r>
          </a:p>
          <a:p>
            <a:endParaRPr lang="ru-RU" sz="24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Точность эскалации: </a:t>
            </a:r>
            <a:r>
              <a:rPr lang="ru-RU" sz="2400" dirty="0">
                <a:solidFill>
                  <a:schemeClr val="bg1"/>
                </a:solidFill>
                <a:latin typeface="Nunito SemiBold" pitchFamily="2" charset="-52"/>
              </a:rPr>
              <a:t>100%</a:t>
            </a:r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 (13 нетиповых запросов)</a:t>
            </a:r>
          </a:p>
          <a:p>
            <a:endParaRPr lang="ru-RU" sz="24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Ложных эскалаций: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BEE41-F0EF-4944-AA1B-6C50D731EDFD}"/>
              </a:ext>
            </a:extLst>
          </p:cNvPr>
          <p:cNvSpPr txBox="1"/>
          <p:nvPr/>
        </p:nvSpPr>
        <p:spPr>
          <a:xfrm>
            <a:off x="11183111" y="1758606"/>
            <a:ext cx="39319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Время ответа:</a:t>
            </a:r>
          </a:p>
          <a:p>
            <a:endParaRPr lang="ru-RU" sz="36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RAG: ~2,8 с</a:t>
            </a:r>
          </a:p>
          <a:p>
            <a:endParaRPr lang="ru-RU" sz="32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Прямой LLM:</a:t>
            </a:r>
            <a:b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</a:br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~2,1 с</a:t>
            </a:r>
          </a:p>
          <a:p>
            <a:endParaRPr lang="ru-RU" sz="4000" dirty="0">
              <a:solidFill>
                <a:schemeClr val="bg1"/>
              </a:solidFill>
              <a:latin typeface="Nunito SemiBold" pitchFamily="2" charset="-52"/>
            </a:endParaRPr>
          </a:p>
          <a:p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Видео</a:t>
            </a:r>
            <a:r>
              <a:rPr lang="en-US" sz="2800" dirty="0">
                <a:solidFill>
                  <a:schemeClr val="bg1"/>
                </a:solidFill>
                <a:latin typeface="Nunito SemiBold" pitchFamily="2" charset="-52"/>
              </a:rPr>
              <a:t>: </a:t>
            </a:r>
            <a:r>
              <a:rPr lang="ru-RU" sz="2800" dirty="0">
                <a:solidFill>
                  <a:schemeClr val="bg1"/>
                </a:solidFill>
                <a:latin typeface="Nunito SemiBold" pitchFamily="2" charset="-52"/>
              </a:rPr>
              <a:t>&lt;0,1 с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07F2620-58B1-4537-BF9B-E4CC6E08DB43}"/>
              </a:ext>
            </a:extLst>
          </p:cNvPr>
          <p:cNvCxnSpPr>
            <a:cxnSpLocks/>
          </p:cNvCxnSpPr>
          <p:nvPr/>
        </p:nvCxnSpPr>
        <p:spPr>
          <a:xfrm>
            <a:off x="6144768" y="1581912"/>
            <a:ext cx="0" cy="53922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57E437B-3CA8-455B-AD14-751C55E851B6}"/>
              </a:ext>
            </a:extLst>
          </p:cNvPr>
          <p:cNvCxnSpPr>
            <a:cxnSpLocks/>
          </p:cNvCxnSpPr>
          <p:nvPr/>
        </p:nvCxnSpPr>
        <p:spPr>
          <a:xfrm>
            <a:off x="11097768" y="1581912"/>
            <a:ext cx="0" cy="53922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96F3AFCE-837C-4798-9622-0C40BF585FFC}"/>
              </a:ext>
            </a:extLst>
          </p:cNvPr>
          <p:cNvCxnSpPr>
            <a:cxnSpLocks/>
          </p:cNvCxnSpPr>
          <p:nvPr/>
        </p:nvCxnSpPr>
        <p:spPr>
          <a:xfrm>
            <a:off x="653795" y="6974122"/>
            <a:ext cx="1044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27108B-C9D5-425F-A7DE-F04751A8120D}"/>
              </a:ext>
            </a:extLst>
          </p:cNvPr>
          <p:cNvCxnSpPr>
            <a:cxnSpLocks/>
          </p:cNvCxnSpPr>
          <p:nvPr/>
        </p:nvCxnSpPr>
        <p:spPr>
          <a:xfrm>
            <a:off x="653795" y="2386577"/>
            <a:ext cx="132450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56C7119-9D23-4BE9-9F81-3F2AF6D0E0E0}"/>
              </a:ext>
            </a:extLst>
          </p:cNvPr>
          <p:cNvCxnSpPr>
            <a:cxnSpLocks/>
          </p:cNvCxnSpPr>
          <p:nvPr/>
        </p:nvCxnSpPr>
        <p:spPr>
          <a:xfrm>
            <a:off x="665987" y="3587794"/>
            <a:ext cx="132328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E2577EA-7A73-4FCB-A6CB-91DA9DAEC2F8}"/>
              </a:ext>
            </a:extLst>
          </p:cNvPr>
          <p:cNvCxnSpPr>
            <a:cxnSpLocks/>
          </p:cNvCxnSpPr>
          <p:nvPr/>
        </p:nvCxnSpPr>
        <p:spPr>
          <a:xfrm>
            <a:off x="665987" y="4721650"/>
            <a:ext cx="132328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8E46F1B-61E7-46D9-80F6-A6DCEB7B7EF7}"/>
              </a:ext>
            </a:extLst>
          </p:cNvPr>
          <p:cNvCxnSpPr>
            <a:cxnSpLocks/>
          </p:cNvCxnSpPr>
          <p:nvPr/>
        </p:nvCxnSpPr>
        <p:spPr>
          <a:xfrm>
            <a:off x="665987" y="6020098"/>
            <a:ext cx="132328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7321BB5F-84DA-4E4F-A564-717E9199732B}"/>
              </a:ext>
            </a:extLst>
          </p:cNvPr>
          <p:cNvCxnSpPr>
            <a:cxnSpLocks/>
          </p:cNvCxnSpPr>
          <p:nvPr/>
        </p:nvCxnSpPr>
        <p:spPr>
          <a:xfrm>
            <a:off x="13898880" y="1581912"/>
            <a:ext cx="0" cy="4438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274D361-A8F5-4979-AB6D-159A517A43B4}"/>
              </a:ext>
            </a:extLst>
          </p:cNvPr>
          <p:cNvCxnSpPr>
            <a:cxnSpLocks/>
          </p:cNvCxnSpPr>
          <p:nvPr/>
        </p:nvCxnSpPr>
        <p:spPr>
          <a:xfrm>
            <a:off x="665987" y="1581912"/>
            <a:ext cx="0" cy="53922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FC52D-BC01-4845-93B5-9F1F33FE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D4F63F-685D-4EC2-813A-700B54AECB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Что сделано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E1658A-A084-42B8-BC00-0686880015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Разработан и протестирован прототип чат-бота ВКонтакте с ИИ-ассистентом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61586041-7730-4276-AAD7-A1526D930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15534" y="1964697"/>
            <a:ext cx="3100693" cy="571500"/>
          </a:xfrm>
        </p:spPr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Практическая значимость</a:t>
            </a:r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F549189-6C67-437C-A370-71169D8FE90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Автоматизация большинства типовых обращений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Сокращение времени первого ответа с 3–8 минут до 2–3 секунд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1AC3CE33-29CC-420C-BDC4-E85E51DF56B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14663" y="1942656"/>
            <a:ext cx="3100693" cy="571500"/>
          </a:xfrm>
        </p:spPr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Направления развития</a:t>
            </a:r>
            <a:endParaRPr lang="ru-RU" dirty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9CA9A14D-E287-4976-A983-05B70BDF63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500617" y="3416490"/>
            <a:ext cx="3575304" cy="465693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Персистентное хранение истории (</a:t>
            </a:r>
            <a:r>
              <a:rPr lang="ru-RU" sz="3200" b="0" i="0" dirty="0" err="1">
                <a:effectLst/>
                <a:latin typeface="quote-cjk-patch"/>
              </a:rPr>
              <a:t>Redis</a:t>
            </a:r>
            <a:r>
              <a:rPr lang="ru-RU" sz="3200" b="0" i="0" dirty="0">
                <a:effectLst/>
                <a:latin typeface="quote-cjk-patch"/>
              </a:rPr>
              <a:t>/</a:t>
            </a:r>
            <a:r>
              <a:rPr lang="ru-RU" sz="3200" b="0" i="0" dirty="0" err="1">
                <a:effectLst/>
                <a:latin typeface="quote-cjk-patch"/>
              </a:rPr>
              <a:t>SQLite</a:t>
            </a:r>
            <a:r>
              <a:rPr lang="ru-RU" sz="3200" b="0" i="0" dirty="0">
                <a:effectLst/>
                <a:latin typeface="quote-cjk-patch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0" i="0" dirty="0" err="1">
                <a:effectLst/>
                <a:latin typeface="quote-cjk-patch"/>
              </a:rPr>
              <a:t>Webhook</a:t>
            </a:r>
            <a:r>
              <a:rPr lang="ru-RU" sz="3200" b="0" i="0" dirty="0">
                <a:effectLst/>
                <a:latin typeface="quote-cjk-patch"/>
              </a:rPr>
              <a:t>-интеграция с CRM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Веб-интерфейс для базы знаний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9A0E77-6BF3-4DDE-8CF5-55D7357EFA8F}"/>
              </a:ext>
            </a:extLst>
          </p:cNvPr>
          <p:cNvSpPr/>
          <p:nvPr/>
        </p:nvSpPr>
        <p:spPr>
          <a:xfrm>
            <a:off x="13482735" y="1707502"/>
            <a:ext cx="4394718" cy="6848669"/>
          </a:xfrm>
          <a:prstGeom prst="rect">
            <a:avLst/>
          </a:prstGeom>
          <a:solidFill>
            <a:srgbClr val="F8F8F8"/>
          </a:solidFill>
          <a:ln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6B865-30D0-4FDB-A30E-7E6AA3A26549}"/>
              </a:ext>
            </a:extLst>
          </p:cNvPr>
          <p:cNvSpPr txBox="1"/>
          <p:nvPr/>
        </p:nvSpPr>
        <p:spPr>
          <a:xfrm rot="1175335">
            <a:off x="13264492" y="6525064"/>
            <a:ext cx="43648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dirty="0"/>
              <a:t>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2E94BC98-DC63-43D0-B50A-0001AB2F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4967589-178E-4B66-B960-E9D2A3450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29" y="783364"/>
            <a:ext cx="6071416" cy="87818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CB2DF7-7E6F-4CEF-BAB8-3B6BF73ED254}"/>
              </a:ext>
            </a:extLst>
          </p:cNvPr>
          <p:cNvSpPr txBox="1"/>
          <p:nvPr/>
        </p:nvSpPr>
        <p:spPr>
          <a:xfrm>
            <a:off x="11219688" y="8924544"/>
            <a:ext cx="888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😺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50010081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">
  <a:themeElements>
    <a:clrScheme name="Office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Nunito Bold"/>
        <a:ea typeface=""/>
        <a:cs typeface=""/>
      </a:majorFont>
      <a:minorFont>
        <a:latin typeface="Nunito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иняя">
  <a:themeElements>
    <a:clrScheme name="Office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4626</TotalTime>
  <Words>291</Words>
  <Application>Microsoft Office PowerPoint</Application>
  <PresentationFormat>Произвольный</PresentationFormat>
  <Paragraphs>74</Paragraphs>
  <Slides>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8" baseType="lpstr">
      <vt:lpstr>Arial</vt:lpstr>
      <vt:lpstr>Calibri</vt:lpstr>
      <vt:lpstr>Nunito</vt:lpstr>
      <vt:lpstr>Nunito Bold</vt:lpstr>
      <vt:lpstr>Nunito ExtraBold</vt:lpstr>
      <vt:lpstr>Nunito Sans Bold</vt:lpstr>
      <vt:lpstr>Nunito Sans SemiBold</vt:lpstr>
      <vt:lpstr>Nunito SemiBold</vt:lpstr>
      <vt:lpstr>quote-cjk-patch</vt:lpstr>
      <vt:lpstr>Светлая</vt:lpstr>
      <vt:lpstr>Синяя</vt:lpstr>
      <vt:lpstr>Презентация PowerPoint</vt:lpstr>
      <vt:lpstr>Цель работы</vt:lpstr>
      <vt:lpstr>Задачи работы</vt:lpstr>
      <vt:lpstr>Логическая структура и архитектура</vt:lpstr>
      <vt:lpstr>Реализация и результаты тестирования</vt:lpstr>
      <vt:lpstr>Заключение</vt:lpstr>
      <vt:lpstr>Демонстрация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Егор Бухаров</cp:lastModifiedBy>
  <cp:revision>78</cp:revision>
  <dcterms:created xsi:type="dcterms:W3CDTF">2025-10-16T18:17:35Z</dcterms:created>
  <dcterms:modified xsi:type="dcterms:W3CDTF">2026-05-30T10:56:46Z</dcterms:modified>
</cp:coreProperties>
</file>
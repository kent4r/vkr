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0"/>
  </p:notesMasterIdLst>
  <p:handoutMasterIdLst>
    <p:handoutMasterId r:id="rId11"/>
  </p:handoutMasterIdLst>
  <p:sldIdLst>
    <p:sldId id="256" r:id="rId3"/>
    <p:sldId id="265" r:id="rId4"/>
    <p:sldId id="288" r:id="rId5"/>
    <p:sldId id="262" r:id="rId6"/>
    <p:sldId id="273" r:id="rId7"/>
    <p:sldId id="286" r:id="rId8"/>
    <p:sldId id="287" r:id="rId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F9F9"/>
    <a:srgbClr val="F8F8F8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03" autoAdjust="0"/>
    <p:restoredTop sz="96539" autoAdjust="0"/>
  </p:normalViewPr>
  <p:slideViewPr>
    <p:cSldViewPr snapToGrid="0" snapToObjects="1">
      <p:cViewPr varScale="1">
        <p:scale>
          <a:sx n="105" d="100"/>
          <a:sy n="105" d="100"/>
        </p:scale>
        <p:origin x="840" y="108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30.05.2026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0204" y="3238500"/>
            <a:ext cx="9209913" cy="1351788"/>
          </a:xfrm>
        </p:spPr>
        <p:txBody>
          <a:bodyPr/>
          <a:lstStyle/>
          <a:p>
            <a:r>
              <a:rPr lang="ru-RU" sz="3200" dirty="0"/>
              <a:t>Тема: «Разработка ПО для служб поддержки с использованием ИИ как ассистента»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6B001-6B53-420A-88C2-785766438B41}"/>
              </a:ext>
            </a:extLst>
          </p:cNvPr>
          <p:cNvSpPr txBox="1"/>
          <p:nvPr/>
        </p:nvSpPr>
        <p:spPr>
          <a:xfrm>
            <a:off x="540204" y="6744971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" pitchFamily="2" charset="-52"/>
              </a:rPr>
              <a:t>Студент: Бухаров Егор Константинович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" pitchFamily="2" charset="-52"/>
              </a:rPr>
              <a:t>Группа ИСП-21</a:t>
            </a:r>
          </a:p>
          <a:p>
            <a:endParaRPr lang="ru-RU" sz="2400" dirty="0">
              <a:solidFill>
                <a:schemeClr val="bg1"/>
              </a:solidFill>
              <a:latin typeface="Nunito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" pitchFamily="2" charset="-52"/>
              </a:rPr>
              <a:t>Руководитель ДП: Коновалов Игорь Васильевич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DAF45-F5D0-44D9-B1DF-80858F2B180F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DF9CFA-78EE-42E6-9F1D-C4B5709FBD28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1801D5A-7921-4EBD-AD4F-0EA68BFE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работы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976454F-208B-402E-A996-68C9CE79D8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ru-RU" dirty="0"/>
              <a:t>Целью работы является разработать чат-бота ВКонтакте для службы поддержки, где ИИ-ассистент ведёт диалог, использует RAG для поиска по документации и передаёт диалог оператору при снижении уверенности.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F97C418-0306-F9E8-8544-059EA9416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739891" y="8191183"/>
            <a:ext cx="2857500" cy="6191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0D0E6D-9552-4291-BFC1-15263BC09767}"/>
              </a:ext>
            </a:extLst>
          </p:cNvPr>
          <p:cNvSpPr txBox="1"/>
          <p:nvPr/>
        </p:nvSpPr>
        <p:spPr>
          <a:xfrm>
            <a:off x="8005295" y="7196328"/>
            <a:ext cx="8883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😎</a:t>
            </a:r>
            <a:endParaRPr lang="ru-RU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50640E-F1AD-43DC-A277-3CA77DDD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работы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D3EB12-6682-44BA-945D-34C7054C82F4}"/>
              </a:ext>
            </a:extLst>
          </p:cNvPr>
          <p:cNvSpPr txBox="1">
            <a:spLocks noGrp="1"/>
          </p:cNvSpPr>
          <p:nvPr>
            <p:ph type="body" sz="quarter" idx="12"/>
          </p:nvPr>
        </p:nvSpPr>
        <p:spPr>
          <a:xfrm>
            <a:off x="1047750" y="2163763"/>
            <a:ext cx="16167100" cy="590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Задачи, поставленные для выполнения цели:</a:t>
            </a:r>
          </a:p>
          <a:p>
            <a:endParaRPr lang="ru-RU" dirty="0"/>
          </a:p>
          <a:p>
            <a:pPr marL="457200" indent="-457200">
              <a:buAutoNum type="arabicPeriod"/>
            </a:pPr>
            <a:r>
              <a:rPr lang="ru-RU" dirty="0"/>
              <a:t>Проанализировать предметную область и существующие решения.</a:t>
            </a:r>
          </a:p>
          <a:p>
            <a:pPr marL="457200" indent="-457200">
              <a:buFontTx/>
              <a:buAutoNum type="arabicPeriod"/>
            </a:pPr>
            <a:r>
              <a:rPr lang="ru-RU" dirty="0"/>
              <a:t>Выбрать методы: LLM (</a:t>
            </a:r>
            <a:r>
              <a:rPr lang="ru-RU" dirty="0" err="1"/>
              <a:t>GigaChat</a:t>
            </a:r>
            <a:r>
              <a:rPr lang="ru-RU" dirty="0"/>
              <a:t>), RAG, механизм эскалации через JSON.</a:t>
            </a:r>
          </a:p>
          <a:p>
            <a:pPr marL="457200" indent="-457200">
              <a:buAutoNum type="arabicPeriod"/>
            </a:pPr>
            <a:r>
              <a:rPr lang="ru-RU" dirty="0"/>
              <a:t>Спроектировать модульную архитектуру.</a:t>
            </a:r>
          </a:p>
          <a:p>
            <a:pPr marL="457200" indent="-457200">
              <a:buFontTx/>
              <a:buAutoNum type="arabicPeriod"/>
            </a:pPr>
            <a:r>
              <a:rPr lang="ru-RU" dirty="0"/>
              <a:t>Реализовать чат-бота с интеграцией </a:t>
            </a:r>
            <a:r>
              <a:rPr lang="ru-RU" dirty="0" err="1"/>
              <a:t>GigaChat</a:t>
            </a:r>
            <a:r>
              <a:rPr lang="ru-RU" dirty="0"/>
              <a:t>, векторной БД </a:t>
            </a:r>
            <a:r>
              <a:rPr lang="ru-RU" dirty="0" err="1"/>
              <a:t>Chroma</a:t>
            </a:r>
            <a:r>
              <a:rPr lang="ru-RU" dirty="0"/>
              <a:t> и механизмом эскалации.</a:t>
            </a:r>
          </a:p>
          <a:p>
            <a:pPr marL="457200" indent="-457200">
              <a:buAutoNum type="arabicPeriod"/>
            </a:pPr>
            <a:r>
              <a:rPr lang="ru-RU" dirty="0"/>
              <a:t>Провести тестирование и оценить эффективность.</a:t>
            </a:r>
          </a:p>
        </p:txBody>
      </p:sp>
    </p:spTree>
    <p:extLst>
      <p:ext uri="{BB962C8B-B14F-4D97-AF65-F5344CB8AC3E}">
        <p14:creationId xmlns:p14="http://schemas.microsoft.com/office/powerpoint/2010/main" val="3014670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703E6-19B6-432B-978B-4B26A55B7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Логическая структура и архитектура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C8E7DC-7D3A-4759-A75B-E681A7FDABF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7749" y="2640774"/>
            <a:ext cx="7505700" cy="5005451"/>
          </a:xfrm>
        </p:spPr>
        <p:txBody>
          <a:bodyPr/>
          <a:lstStyle/>
          <a:p>
            <a:r>
              <a:rPr lang="ru-RU" dirty="0"/>
              <a:t>Архитектура состоит из:</a:t>
            </a:r>
            <a:endParaRPr lang="en-US" dirty="0"/>
          </a:p>
          <a:p>
            <a:endParaRPr lang="ru-RU" dirty="0"/>
          </a:p>
          <a:p>
            <a:r>
              <a:rPr lang="ru-RU" sz="2800" dirty="0"/>
              <a:t>Транспортный слой</a:t>
            </a:r>
            <a:r>
              <a:rPr lang="en-US" sz="2800" dirty="0"/>
              <a:t>: VK Bot API</a:t>
            </a:r>
          </a:p>
          <a:p>
            <a:endParaRPr lang="en-US" sz="2800" dirty="0"/>
          </a:p>
          <a:p>
            <a:r>
              <a:rPr lang="ru-RU" sz="2800" dirty="0"/>
              <a:t>Оркестратор диалога (</a:t>
            </a:r>
            <a:r>
              <a:rPr lang="en-US" sz="2800" dirty="0"/>
              <a:t>Facade)</a:t>
            </a:r>
          </a:p>
          <a:p>
            <a:endParaRPr lang="ru-RU" sz="2800" dirty="0"/>
          </a:p>
          <a:p>
            <a:r>
              <a:rPr lang="ru-RU" sz="2800" dirty="0"/>
              <a:t>Слой интеллекта: </a:t>
            </a:r>
            <a:r>
              <a:rPr lang="en-US" sz="2800" dirty="0"/>
              <a:t>GigaChat+RAG+YOLOv8</a:t>
            </a:r>
          </a:p>
          <a:p>
            <a:endParaRPr lang="en-US" sz="2800" dirty="0"/>
          </a:p>
          <a:p>
            <a:r>
              <a:rPr lang="ru-RU" sz="2800" dirty="0"/>
              <a:t>Память</a:t>
            </a:r>
            <a:r>
              <a:rPr lang="en-US" sz="2800" dirty="0"/>
              <a:t>: </a:t>
            </a:r>
            <a:r>
              <a:rPr lang="en-US" sz="2800" dirty="0" err="1"/>
              <a:t>conversation_history</a:t>
            </a:r>
            <a:endParaRPr lang="ru-RU" sz="2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61243D3-96C2-41DA-9228-0AEDA2BA1F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658351" y="2117725"/>
            <a:ext cx="4734305" cy="585788"/>
          </a:xfrm>
        </p:spPr>
        <p:txBody>
          <a:bodyPr/>
          <a:lstStyle/>
          <a:p>
            <a:r>
              <a:rPr lang="ru-RU" sz="3200" dirty="0"/>
              <a:t>Технологический стек</a:t>
            </a:r>
            <a:endParaRPr lang="en-US" sz="3200" dirty="0"/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C0C6D7F3-6AA6-47F7-90E2-EEF01CA27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939" y="2481070"/>
            <a:ext cx="1642874" cy="1642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754858E-E44C-4C8C-89C9-9684D49C9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4553" y="6605450"/>
            <a:ext cx="3429000" cy="585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ГигаЧат - Скачать логотип в векторе SVG или PNG без фона">
            <a:extLst>
              <a:ext uri="{FF2B5EF4-FFF2-40B4-BE49-F238E27FC236}">
                <a16:creationId xmlns:a16="http://schemas.microsoft.com/office/drawing/2014/main" id="{835094E7-BC1A-4430-B2CE-9C7253833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8043" y="3128611"/>
            <a:ext cx="2477370" cy="768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59C641-DA09-45B4-8655-F0821AB1391C}"/>
              </a:ext>
            </a:extLst>
          </p:cNvPr>
          <p:cNvSpPr txBox="1"/>
          <p:nvPr/>
        </p:nvSpPr>
        <p:spPr>
          <a:xfrm>
            <a:off x="14775939" y="4319025"/>
            <a:ext cx="21739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Python 3.10</a:t>
            </a:r>
            <a:endParaRPr lang="ru-RU" sz="2800" dirty="0"/>
          </a:p>
        </p:txBody>
      </p:sp>
      <p:pic>
        <p:nvPicPr>
          <p:cNvPr id="1034" name="Picture 10" descr="ChromaDB: An Overview. ChromaDB is a powerful vector database… | by VIKRANT  SINGH | Medium">
            <a:extLst>
              <a:ext uri="{FF2B5EF4-FFF2-40B4-BE49-F238E27FC236}">
                <a16:creationId xmlns:a16="http://schemas.microsoft.com/office/drawing/2014/main" id="{F60DF9E2-A000-4F7C-8DCD-8E436F1F8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99230" y="4422190"/>
            <a:ext cx="1528645" cy="144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PCwire - Since 1987 – Covering the Fastest Computers in the World and the  People Who Run Them">
            <a:extLst>
              <a:ext uri="{FF2B5EF4-FFF2-40B4-BE49-F238E27FC236}">
                <a16:creationId xmlns:a16="http://schemas.microsoft.com/office/drawing/2014/main" id="{C106F72D-368F-44E3-BB3B-B8A0FB481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16511" y="5607546"/>
            <a:ext cx="2561729" cy="2561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43B25F4-BFCB-4302-AA1B-5D577F96ECA7}"/>
              </a:ext>
            </a:extLst>
          </p:cNvPr>
          <p:cNvSpPr/>
          <p:nvPr/>
        </p:nvSpPr>
        <p:spPr>
          <a:xfrm>
            <a:off x="653795" y="1581912"/>
            <a:ext cx="13245085" cy="804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7428D62-9169-4769-9A6B-E2F0D5C6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3641708" cy="878178"/>
          </a:xfrm>
        </p:spPr>
        <p:txBody>
          <a:bodyPr/>
          <a:lstStyle/>
          <a:p>
            <a:r>
              <a:rPr lang="ru-RU"/>
              <a:t>Реализация и результаты тестирования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BC3FA-67DC-4E2E-81E7-2448850846CC}"/>
              </a:ext>
            </a:extLst>
          </p:cNvPr>
          <p:cNvSpPr txBox="1"/>
          <p:nvPr/>
        </p:nvSpPr>
        <p:spPr>
          <a:xfrm>
            <a:off x="714373" y="1711143"/>
            <a:ext cx="556755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Функциональность: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Приём текста, фото (YOLOv8), видео </a:t>
            </a:r>
            <a:r>
              <a:rPr lang="en-US" sz="2800" dirty="0">
                <a:solidFill>
                  <a:schemeClr val="bg1"/>
                </a:solidFill>
                <a:latin typeface="Nunito SemiBold" pitchFamily="2" charset="-52"/>
              </a:rPr>
              <a:t>-&gt; </a:t>
            </a:r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эскалация</a:t>
            </a:r>
          </a:p>
          <a:p>
            <a:endParaRPr lang="ru-RU" sz="32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RAG-поиск по документации</a:t>
            </a:r>
            <a:endParaRPr lang="en-US" sz="2800" dirty="0">
              <a:solidFill>
                <a:schemeClr val="bg1"/>
              </a:solidFill>
              <a:latin typeface="Nunito SemiBold" pitchFamily="2" charset="-52"/>
            </a:endParaRPr>
          </a:p>
          <a:p>
            <a:endParaRPr lang="ru-RU" sz="36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Контекст 5 последних сообщений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Эскалация по 4 критериям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0B3505-18BB-4519-93BB-D0C910D566B0}"/>
              </a:ext>
            </a:extLst>
          </p:cNvPr>
          <p:cNvSpPr txBox="1"/>
          <p:nvPr/>
        </p:nvSpPr>
        <p:spPr>
          <a:xfrm>
            <a:off x="6281928" y="1711143"/>
            <a:ext cx="49011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Результаты тестирования</a:t>
            </a:r>
            <a:r>
              <a:rPr lang="en-US" sz="2800" dirty="0">
                <a:solidFill>
                  <a:schemeClr val="bg1"/>
                </a:solidFill>
                <a:latin typeface="Nunito SemiBold" pitchFamily="2" charset="-52"/>
              </a:rPr>
              <a:t>:</a:t>
            </a:r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Пройдено 12/12 тест-кейсов</a:t>
            </a:r>
          </a:p>
          <a:p>
            <a:endParaRPr lang="ru-RU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Автономная обработка: 74% (37 из 50 запросов)</a:t>
            </a:r>
          </a:p>
          <a:p>
            <a:endParaRPr lang="ru-RU" sz="24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Точность эскалации: 100% (13 нетиповых запросов)</a:t>
            </a:r>
          </a:p>
          <a:p>
            <a:endParaRPr lang="ru-RU" sz="24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Ложных эскалаций: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DBEE41-F0EF-4944-AA1B-6C50D731EDFD}"/>
              </a:ext>
            </a:extLst>
          </p:cNvPr>
          <p:cNvSpPr txBox="1"/>
          <p:nvPr/>
        </p:nvSpPr>
        <p:spPr>
          <a:xfrm>
            <a:off x="11183111" y="1758606"/>
            <a:ext cx="3931919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Время ответа:</a:t>
            </a:r>
          </a:p>
          <a:p>
            <a:endParaRPr lang="ru-RU" sz="36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RAG: ~2,8 с</a:t>
            </a:r>
          </a:p>
          <a:p>
            <a:endParaRPr lang="ru-RU" sz="4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Прямой LLM: ~2,1 с</a:t>
            </a:r>
          </a:p>
          <a:p>
            <a:endParaRPr lang="ru-RU" sz="40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Видео</a:t>
            </a:r>
            <a:r>
              <a:rPr lang="en-US" sz="2800" dirty="0">
                <a:solidFill>
                  <a:schemeClr val="bg1"/>
                </a:solidFill>
                <a:latin typeface="Nunito SemiBold" pitchFamily="2" charset="-52"/>
              </a:rPr>
              <a:t>: </a:t>
            </a:r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&lt;0,1 с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407F2620-58B1-4537-BF9B-E4CC6E08DB43}"/>
              </a:ext>
            </a:extLst>
          </p:cNvPr>
          <p:cNvCxnSpPr>
            <a:cxnSpLocks/>
          </p:cNvCxnSpPr>
          <p:nvPr/>
        </p:nvCxnSpPr>
        <p:spPr>
          <a:xfrm>
            <a:off x="6144768" y="1581912"/>
            <a:ext cx="0" cy="539221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A57E437B-3CA8-455B-AD14-751C55E851B6}"/>
              </a:ext>
            </a:extLst>
          </p:cNvPr>
          <p:cNvCxnSpPr>
            <a:cxnSpLocks/>
          </p:cNvCxnSpPr>
          <p:nvPr/>
        </p:nvCxnSpPr>
        <p:spPr>
          <a:xfrm>
            <a:off x="11097768" y="1581912"/>
            <a:ext cx="0" cy="539221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96F3AFCE-837C-4798-9622-0C40BF585FFC}"/>
              </a:ext>
            </a:extLst>
          </p:cNvPr>
          <p:cNvCxnSpPr>
            <a:cxnSpLocks/>
          </p:cNvCxnSpPr>
          <p:nvPr/>
        </p:nvCxnSpPr>
        <p:spPr>
          <a:xfrm>
            <a:off x="714373" y="6974122"/>
            <a:ext cx="1038339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D827108B-C9D5-425F-A7DE-F04751A8120D}"/>
              </a:ext>
            </a:extLst>
          </p:cNvPr>
          <p:cNvCxnSpPr>
            <a:cxnSpLocks/>
          </p:cNvCxnSpPr>
          <p:nvPr/>
        </p:nvCxnSpPr>
        <p:spPr>
          <a:xfrm>
            <a:off x="653795" y="2386577"/>
            <a:ext cx="1324508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F56C7119-9D23-4BE9-9F81-3F2AF6D0E0E0}"/>
              </a:ext>
            </a:extLst>
          </p:cNvPr>
          <p:cNvCxnSpPr>
            <a:cxnSpLocks/>
          </p:cNvCxnSpPr>
          <p:nvPr/>
        </p:nvCxnSpPr>
        <p:spPr>
          <a:xfrm>
            <a:off x="714372" y="3587794"/>
            <a:ext cx="123524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5E2577EA-7A73-4FCB-A6CB-91DA9DAEC2F8}"/>
              </a:ext>
            </a:extLst>
          </p:cNvPr>
          <p:cNvCxnSpPr>
            <a:cxnSpLocks/>
          </p:cNvCxnSpPr>
          <p:nvPr/>
        </p:nvCxnSpPr>
        <p:spPr>
          <a:xfrm>
            <a:off x="796667" y="4721650"/>
            <a:ext cx="123524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48E46F1B-61E7-46D9-80F6-A6DCEB7B7EF7}"/>
              </a:ext>
            </a:extLst>
          </p:cNvPr>
          <p:cNvCxnSpPr>
            <a:cxnSpLocks/>
          </p:cNvCxnSpPr>
          <p:nvPr/>
        </p:nvCxnSpPr>
        <p:spPr>
          <a:xfrm>
            <a:off x="714373" y="6020098"/>
            <a:ext cx="123524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FC52D-BC01-4845-93B5-9F1F33FEE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D4F63F-685D-4EC2-813A-700B54AECBB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Что сделано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FE1658A-A084-42B8-BC00-06868800156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Разработан и протестирован прототип чат-бота ВКонтакте с ИИ-ассистентом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61586041-7730-4276-AAD7-A1526D9309C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415534" y="1964697"/>
            <a:ext cx="3100693" cy="571500"/>
          </a:xfrm>
        </p:spPr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Практическая значимость</a:t>
            </a:r>
            <a:endParaRPr lang="ru-RU" dirty="0"/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F549189-6C67-437C-A370-71169D8FE90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Автоматизация большинства типовых обращений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Сокращение времени первого ответа с 3–8 минут до 2–3 секунд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1AC3CE33-29CC-420C-BDC4-E85E51DF56B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714663" y="1942656"/>
            <a:ext cx="3100693" cy="571500"/>
          </a:xfrm>
        </p:spPr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Направления развития</a:t>
            </a:r>
            <a:endParaRPr lang="ru-RU" dirty="0"/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9CA9A14D-E287-4976-A983-05B70BDF63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500617" y="3416490"/>
            <a:ext cx="3575304" cy="465693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Персистентное хранение истории (</a:t>
            </a:r>
            <a:r>
              <a:rPr lang="ru-RU" sz="3200" b="0" i="0" dirty="0" err="1">
                <a:effectLst/>
                <a:latin typeface="quote-cjk-patch"/>
              </a:rPr>
              <a:t>Redis</a:t>
            </a:r>
            <a:r>
              <a:rPr lang="ru-RU" sz="3200" b="0" i="0" dirty="0">
                <a:effectLst/>
                <a:latin typeface="quote-cjk-patch"/>
              </a:rPr>
              <a:t>/</a:t>
            </a:r>
            <a:r>
              <a:rPr lang="ru-RU" sz="3200" b="0" i="0" dirty="0" err="1">
                <a:effectLst/>
                <a:latin typeface="quote-cjk-patch"/>
              </a:rPr>
              <a:t>SQLite</a:t>
            </a:r>
            <a:r>
              <a:rPr lang="ru-RU" sz="3200" b="0" i="0" dirty="0">
                <a:effectLst/>
                <a:latin typeface="quote-cjk-patch"/>
              </a:rPr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200" b="0" i="0" dirty="0" err="1">
                <a:effectLst/>
                <a:latin typeface="quote-cjk-patch"/>
              </a:rPr>
              <a:t>Webhook</a:t>
            </a:r>
            <a:r>
              <a:rPr lang="ru-RU" sz="3200" b="0" i="0" dirty="0">
                <a:effectLst/>
                <a:latin typeface="quote-cjk-patch"/>
              </a:rPr>
              <a:t>-интеграция с CRM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Веб-интерфейс для базы знаний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69A0E77-6BF3-4DDE-8CF5-55D7357EFA8F}"/>
              </a:ext>
            </a:extLst>
          </p:cNvPr>
          <p:cNvSpPr/>
          <p:nvPr/>
        </p:nvSpPr>
        <p:spPr>
          <a:xfrm>
            <a:off x="13482735" y="1707502"/>
            <a:ext cx="4394718" cy="6848669"/>
          </a:xfrm>
          <a:prstGeom prst="rect">
            <a:avLst/>
          </a:prstGeom>
          <a:solidFill>
            <a:srgbClr val="F8F8F8"/>
          </a:solidFill>
          <a:ln>
            <a:solidFill>
              <a:srgbClr val="F9F9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36B865-30D0-4FDB-A30E-7E6AA3A26549}"/>
              </a:ext>
            </a:extLst>
          </p:cNvPr>
          <p:cNvSpPr txBox="1"/>
          <p:nvPr/>
        </p:nvSpPr>
        <p:spPr>
          <a:xfrm rot="1175335">
            <a:off x="13264492" y="6525064"/>
            <a:ext cx="436486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500" dirty="0"/>
              <a:t>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0">
            <a:extLst>
              <a:ext uri="{FF2B5EF4-FFF2-40B4-BE49-F238E27FC236}">
                <a16:creationId xmlns:a16="http://schemas.microsoft.com/office/drawing/2014/main" id="{2E94BC98-DC63-43D0-B50A-0001AB2F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4967589-178E-4B66-B960-E9D2A3450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429" y="783364"/>
            <a:ext cx="6071416" cy="87818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CB2DF7-7E6F-4CEF-BAB8-3B6BF73ED254}"/>
              </a:ext>
            </a:extLst>
          </p:cNvPr>
          <p:cNvSpPr txBox="1"/>
          <p:nvPr/>
        </p:nvSpPr>
        <p:spPr>
          <a:xfrm>
            <a:off x="11219688" y="8924544"/>
            <a:ext cx="8883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😺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850010081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4620</TotalTime>
  <Words>290</Words>
  <Application>Microsoft Office PowerPoint</Application>
  <PresentationFormat>Произвольный</PresentationFormat>
  <Paragraphs>74</Paragraphs>
  <Slides>7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7</vt:i4>
      </vt:variant>
    </vt:vector>
  </HeadingPairs>
  <TitlesOfParts>
    <vt:vector size="18" baseType="lpstr">
      <vt:lpstr>Arial</vt:lpstr>
      <vt:lpstr>Calibri</vt:lpstr>
      <vt:lpstr>Nunito</vt:lpstr>
      <vt:lpstr>Nunito Bold</vt:lpstr>
      <vt:lpstr>Nunito ExtraBold</vt:lpstr>
      <vt:lpstr>Nunito Sans Bold</vt:lpstr>
      <vt:lpstr>Nunito Sans SemiBold</vt:lpstr>
      <vt:lpstr>Nunito SemiBold</vt:lpstr>
      <vt:lpstr>quote-cjk-patch</vt:lpstr>
      <vt:lpstr>Светлая</vt:lpstr>
      <vt:lpstr>Синяя</vt:lpstr>
      <vt:lpstr>Презентация PowerPoint</vt:lpstr>
      <vt:lpstr>Цель работы</vt:lpstr>
      <vt:lpstr>Задачи работы</vt:lpstr>
      <vt:lpstr>Логическая структура и архитектура</vt:lpstr>
      <vt:lpstr>Реализация и результаты тестирования</vt:lpstr>
      <vt:lpstr>Заключение</vt:lpstr>
      <vt:lpstr>Демонстрация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Егор Бухаров</cp:lastModifiedBy>
  <cp:revision>76</cp:revision>
  <dcterms:created xsi:type="dcterms:W3CDTF">2025-10-16T18:17:35Z</dcterms:created>
  <dcterms:modified xsi:type="dcterms:W3CDTF">2026-05-30T10:41:18Z</dcterms:modified>
</cp:coreProperties>
</file>